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18"/>
  </p:notesMasterIdLst>
  <p:sldIdLst>
    <p:sldId id="256" r:id="rId2"/>
    <p:sldId id="258" r:id="rId3"/>
    <p:sldId id="259" r:id="rId4"/>
    <p:sldId id="271" r:id="rId5"/>
    <p:sldId id="272" r:id="rId6"/>
    <p:sldId id="273" r:id="rId7"/>
    <p:sldId id="260" r:id="rId8"/>
    <p:sldId id="261" r:id="rId9"/>
    <p:sldId id="262" r:id="rId10"/>
    <p:sldId id="263" r:id="rId11"/>
    <p:sldId id="264" r:id="rId12"/>
    <p:sldId id="275" r:id="rId13"/>
    <p:sldId id="274" r:id="rId14"/>
    <p:sldId id="265" r:id="rId15"/>
    <p:sldId id="266" r:id="rId16"/>
    <p:sldId id="267" r:id="rId17"/>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59">
          <p15:clr>
            <a:srgbClr val="A4A3A4"/>
          </p15:clr>
        </p15:guide>
        <p15:guide id="2" pos="290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AD714C-1800-4BBD-BF12-DBE366985FBD}" v="18" dt="2025-10-27T19:10:08.7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1594" y="62"/>
      </p:cViewPr>
      <p:guideLst>
        <p:guide orient="horz" pos="2159"/>
        <p:guide pos="290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vyansh Aggarwal" userId="b2d5761d7e846946" providerId="LiveId" clId="{24023A2C-7014-4FD6-8D80-18A0D60584F0}"/>
    <pc:docChg chg="modSld sldOrd">
      <pc:chgData name="Divyansh Aggarwal" userId="b2d5761d7e846946" providerId="LiveId" clId="{24023A2C-7014-4FD6-8D80-18A0D60584F0}" dt="2025-10-27T19:10:08.731" v="19" actId="14100"/>
      <pc:docMkLst>
        <pc:docMk/>
      </pc:docMkLst>
      <pc:sldChg chg="addSp delSp modSp">
        <pc:chgData name="Divyansh Aggarwal" userId="b2d5761d7e846946" providerId="LiveId" clId="{24023A2C-7014-4FD6-8D80-18A0D60584F0}" dt="2025-10-27T19:08:38.527" v="6" actId="14100"/>
        <pc:sldMkLst>
          <pc:docMk/>
          <pc:sldMk cId="0" sldId="264"/>
        </pc:sldMkLst>
        <pc:picChg chg="add mod">
          <ac:chgData name="Divyansh Aggarwal" userId="b2d5761d7e846946" providerId="LiveId" clId="{24023A2C-7014-4FD6-8D80-18A0D60584F0}" dt="2025-10-27T19:08:16.372" v="3" actId="14100"/>
          <ac:picMkLst>
            <pc:docMk/>
            <pc:sldMk cId="0" sldId="264"/>
            <ac:picMk id="2" creationId="{00980008-B2BF-BF1D-47B7-9A6987391560}"/>
          </ac:picMkLst>
        </pc:picChg>
        <pc:picChg chg="del">
          <ac:chgData name="Divyansh Aggarwal" userId="b2d5761d7e846946" providerId="LiveId" clId="{24023A2C-7014-4FD6-8D80-18A0D60584F0}" dt="2025-10-27T19:08:06.699" v="0" actId="478"/>
          <ac:picMkLst>
            <pc:docMk/>
            <pc:sldMk cId="0" sldId="264"/>
            <ac:picMk id="3" creationId="{5C16375B-E4DC-9D16-0AC7-993220B18EDD}"/>
          </ac:picMkLst>
        </pc:picChg>
        <pc:picChg chg="add mod">
          <ac:chgData name="Divyansh Aggarwal" userId="b2d5761d7e846946" providerId="LiveId" clId="{24023A2C-7014-4FD6-8D80-18A0D60584F0}" dt="2025-10-27T19:08:38.527" v="6" actId="14100"/>
          <ac:picMkLst>
            <pc:docMk/>
            <pc:sldMk cId="0" sldId="264"/>
            <ac:picMk id="4" creationId="{FBEBE978-4447-AB9D-3554-6FAF9FE6CEB6}"/>
          </ac:picMkLst>
        </pc:picChg>
        <pc:picChg chg="del">
          <ac:chgData name="Divyansh Aggarwal" userId="b2d5761d7e846946" providerId="LiveId" clId="{24023A2C-7014-4FD6-8D80-18A0D60584F0}" dt="2025-10-27T19:08:19.013" v="4" actId="478"/>
          <ac:picMkLst>
            <pc:docMk/>
            <pc:sldMk cId="0" sldId="264"/>
            <ac:picMk id="1032" creationId="{4D9CA07F-43F2-A9E1-FCDA-3240B61C98A3}"/>
          </ac:picMkLst>
        </pc:picChg>
      </pc:sldChg>
      <pc:sldChg chg="ord">
        <pc:chgData name="Divyansh Aggarwal" userId="b2d5761d7e846946" providerId="LiveId" clId="{24023A2C-7014-4FD6-8D80-18A0D60584F0}" dt="2025-10-27T19:09:37.562" v="15"/>
        <pc:sldMkLst>
          <pc:docMk/>
          <pc:sldMk cId="3654592606" sldId="274"/>
        </pc:sldMkLst>
      </pc:sldChg>
      <pc:sldChg chg="addSp delSp modSp">
        <pc:chgData name="Divyansh Aggarwal" userId="b2d5761d7e846946" providerId="LiveId" clId="{24023A2C-7014-4FD6-8D80-18A0D60584F0}" dt="2025-10-27T19:10:08.731" v="19" actId="14100"/>
        <pc:sldMkLst>
          <pc:docMk/>
          <pc:sldMk cId="1307940496" sldId="275"/>
        </pc:sldMkLst>
        <pc:picChg chg="add mod">
          <ac:chgData name="Divyansh Aggarwal" userId="b2d5761d7e846946" providerId="LiveId" clId="{24023A2C-7014-4FD6-8D80-18A0D60584F0}" dt="2025-10-27T19:09:28.453" v="13" actId="14100"/>
          <ac:picMkLst>
            <pc:docMk/>
            <pc:sldMk cId="1307940496" sldId="275"/>
            <ac:picMk id="1026" creationId="{5FDBA086-D687-4EAB-5CF7-43D53E6FB74E}"/>
          </ac:picMkLst>
        </pc:picChg>
        <pc:picChg chg="add mod">
          <ac:chgData name="Divyansh Aggarwal" userId="b2d5761d7e846946" providerId="LiveId" clId="{24023A2C-7014-4FD6-8D80-18A0D60584F0}" dt="2025-10-27T19:10:08.731" v="19" actId="14100"/>
          <ac:picMkLst>
            <pc:docMk/>
            <pc:sldMk cId="1307940496" sldId="275"/>
            <ac:picMk id="1028" creationId="{9C8E1EB6-29E1-076A-0886-A656D013376E}"/>
          </ac:picMkLst>
        </pc:picChg>
        <pc:picChg chg="del">
          <ac:chgData name="Divyansh Aggarwal" userId="b2d5761d7e846946" providerId="LiveId" clId="{24023A2C-7014-4FD6-8D80-18A0D60584F0}" dt="2025-10-27T19:08:51.014" v="7" actId="478"/>
          <ac:picMkLst>
            <pc:docMk/>
            <pc:sldMk cId="1307940496" sldId="275"/>
            <ac:picMk id="2052" creationId="{F9AB3521-63FB-2C89-7F5C-F883E7F1B38B}"/>
          </ac:picMkLst>
        </pc:picChg>
        <pc:picChg chg="del">
          <ac:chgData name="Divyansh Aggarwal" userId="b2d5761d7e846946" providerId="LiveId" clId="{24023A2C-7014-4FD6-8D80-18A0D60584F0}" dt="2025-10-27T19:09:08.419" v="8" actId="478"/>
          <ac:picMkLst>
            <pc:docMk/>
            <pc:sldMk cId="1307940496" sldId="275"/>
            <ac:picMk id="2054" creationId="{3D55EB90-8E3E-944D-3625-09AEC422B4F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86" name="Google Shape;8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04" name="Google Shape;104;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14" name="Google Shape;114;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4681A50E-431F-2644-2BB3-5D09663F2FC2}"/>
            </a:ext>
          </a:extLst>
        </p:cNvPr>
        <p:cNvGrpSpPr/>
        <p:nvPr/>
      </p:nvGrpSpPr>
      <p:grpSpPr>
        <a:xfrm>
          <a:off x="0" y="0"/>
          <a:ext cx="0" cy="0"/>
          <a:chOff x="0" y="0"/>
          <a:chExt cx="0" cy="0"/>
        </a:xfrm>
      </p:grpSpPr>
      <p:sp>
        <p:nvSpPr>
          <p:cNvPr id="113" name="Google Shape;113;p4:notes">
            <a:extLst>
              <a:ext uri="{FF2B5EF4-FFF2-40B4-BE49-F238E27FC236}">
                <a16:creationId xmlns:a16="http://schemas.microsoft.com/office/drawing/2014/main" id="{FE8F650F-C837-0D62-64DD-42E4DBF9F90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14" name="Google Shape;114;p4:notes">
            <a:extLst>
              <a:ext uri="{FF2B5EF4-FFF2-40B4-BE49-F238E27FC236}">
                <a16:creationId xmlns:a16="http://schemas.microsoft.com/office/drawing/2014/main" id="{0EEF0541-9938-918A-30F7-7B639635F030}"/>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928175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12C691FC-050B-4326-8BA8-AF2EED2B25CA}"/>
            </a:ext>
          </a:extLst>
        </p:cNvPr>
        <p:cNvGrpSpPr/>
        <p:nvPr/>
      </p:nvGrpSpPr>
      <p:grpSpPr>
        <a:xfrm>
          <a:off x="0" y="0"/>
          <a:ext cx="0" cy="0"/>
          <a:chOff x="0" y="0"/>
          <a:chExt cx="0" cy="0"/>
        </a:xfrm>
      </p:grpSpPr>
      <p:sp>
        <p:nvSpPr>
          <p:cNvPr id="113" name="Google Shape;113;p4:notes">
            <a:extLst>
              <a:ext uri="{FF2B5EF4-FFF2-40B4-BE49-F238E27FC236}">
                <a16:creationId xmlns:a16="http://schemas.microsoft.com/office/drawing/2014/main" id="{B6EEDE1E-010F-BA8A-E079-ABAB61CDC17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14" name="Google Shape;114;p4:notes">
            <a:extLst>
              <a:ext uri="{FF2B5EF4-FFF2-40B4-BE49-F238E27FC236}">
                <a16:creationId xmlns:a16="http://schemas.microsoft.com/office/drawing/2014/main" id="{F5A6FF28-C6B3-984A-0E62-B38389686027}"/>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344046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7C6EB271-B75F-BA74-C5A7-EB9A27A77B12}"/>
            </a:ext>
          </a:extLst>
        </p:cNvPr>
        <p:cNvGrpSpPr/>
        <p:nvPr/>
      </p:nvGrpSpPr>
      <p:grpSpPr>
        <a:xfrm>
          <a:off x="0" y="0"/>
          <a:ext cx="0" cy="0"/>
          <a:chOff x="0" y="0"/>
          <a:chExt cx="0" cy="0"/>
        </a:xfrm>
      </p:grpSpPr>
      <p:sp>
        <p:nvSpPr>
          <p:cNvPr id="113" name="Google Shape;113;p4:notes">
            <a:extLst>
              <a:ext uri="{FF2B5EF4-FFF2-40B4-BE49-F238E27FC236}">
                <a16:creationId xmlns:a16="http://schemas.microsoft.com/office/drawing/2014/main" id="{1BD7231F-C968-80B8-C015-B6155276E04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14" name="Google Shape;114;p4:notes">
            <a:extLst>
              <a:ext uri="{FF2B5EF4-FFF2-40B4-BE49-F238E27FC236}">
                <a16:creationId xmlns:a16="http://schemas.microsoft.com/office/drawing/2014/main" id="{48D2E1C6-017B-2B88-85AC-61C4EBC04F85}"/>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080243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23" name="Google Shape;123;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8ce5d71f5b_0_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34" name="Google Shape;134;g38ce5d71f5b_0_1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43" name="Google Shape;143;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8ce5d71f5b_4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51" name="Google Shape;151;g38ce5d71f5b_4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61" name="Google Shape;161;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8AF06F28-9C6F-E05A-3F37-60D1A35FB65A}"/>
            </a:ext>
          </a:extLst>
        </p:cNvPr>
        <p:cNvGrpSpPr/>
        <p:nvPr/>
      </p:nvGrpSpPr>
      <p:grpSpPr>
        <a:xfrm>
          <a:off x="0" y="0"/>
          <a:ext cx="0" cy="0"/>
          <a:chOff x="0" y="0"/>
          <a:chExt cx="0" cy="0"/>
        </a:xfrm>
      </p:grpSpPr>
      <p:sp>
        <p:nvSpPr>
          <p:cNvPr id="160" name="Google Shape;160;p7:notes">
            <a:extLst>
              <a:ext uri="{FF2B5EF4-FFF2-40B4-BE49-F238E27FC236}">
                <a16:creationId xmlns:a16="http://schemas.microsoft.com/office/drawing/2014/main" id="{BFA04C3A-D5CE-8854-9583-935A2E2179E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61" name="Google Shape;161;p7:notes">
            <a:extLst>
              <a:ext uri="{FF2B5EF4-FFF2-40B4-BE49-F238E27FC236}">
                <a16:creationId xmlns:a16="http://schemas.microsoft.com/office/drawing/2014/main" id="{0D3B67CA-0EF3-0CE4-2E6D-72BB637E3A81}"/>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391146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AE3AB8C8-76DD-6386-C4FC-B3F8A07C9732}"/>
            </a:ext>
          </a:extLst>
        </p:cNvPr>
        <p:cNvGrpSpPr/>
        <p:nvPr/>
      </p:nvGrpSpPr>
      <p:grpSpPr>
        <a:xfrm>
          <a:off x="0" y="0"/>
          <a:ext cx="0" cy="0"/>
          <a:chOff x="0" y="0"/>
          <a:chExt cx="0" cy="0"/>
        </a:xfrm>
      </p:grpSpPr>
      <p:sp>
        <p:nvSpPr>
          <p:cNvPr id="160" name="Google Shape;160;p7:notes">
            <a:extLst>
              <a:ext uri="{FF2B5EF4-FFF2-40B4-BE49-F238E27FC236}">
                <a16:creationId xmlns:a16="http://schemas.microsoft.com/office/drawing/2014/main" id="{D8C20322-D917-D867-2DD8-B0A98A7045F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61" name="Google Shape;161;p7:notes">
            <a:extLst>
              <a:ext uri="{FF2B5EF4-FFF2-40B4-BE49-F238E27FC236}">
                <a16:creationId xmlns:a16="http://schemas.microsoft.com/office/drawing/2014/main" id="{F314B671-E2A2-E39B-9AE4-6924003BAAC0}"/>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228658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8ce5d71f5b_16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70" name="Google Shape;170;g38ce5d71f5b_16_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79" name="Google Shape;179;p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8ce5d71f5b_16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88" name="Google Shape;188;g38ce5d71f5b_16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2" name="Google Shape;62;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a:spLocks noGrp="1"/>
          </p:cNvSpPr>
          <p:nvPr>
            <p:ph type="pic" idx="2"/>
          </p:nvPr>
        </p:nvSpPr>
        <p:spPr>
          <a:xfrm>
            <a:off x="1792288" y="612775"/>
            <a:ext cx="5486400" cy="4114800"/>
          </a:xfrm>
          <a:prstGeom prst="rect">
            <a:avLst/>
          </a:prstGeom>
          <a:noFill/>
          <a:ln>
            <a:noFill/>
          </a:ln>
        </p:spPr>
      </p:sp>
      <p:sp>
        <p:nvSpPr>
          <p:cNvPr id="68" name="Google Shape;68;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jpe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a:spLocks noGrp="1"/>
          </p:cNvSpPr>
          <p:nvPr>
            <p:ph type="ctrTitle"/>
          </p:nvPr>
        </p:nvSpPr>
        <p:spPr>
          <a:xfrm>
            <a:off x="849475" y="2854452"/>
            <a:ext cx="7772400" cy="1309500"/>
          </a:xfrm>
          <a:prstGeom prst="rect">
            <a:avLst/>
          </a:prstGeom>
          <a:noFill/>
          <a:ln>
            <a:noFill/>
          </a:ln>
        </p:spPr>
        <p:txBody>
          <a:bodyPr spcFirstLastPara="1" wrap="square" lIns="91425" tIns="45700" rIns="91425" bIns="45700" anchor="ctr" anchorCtr="0">
            <a:normAutofit fontScale="90000"/>
          </a:bodyPr>
          <a:lstStyle/>
          <a:p>
            <a:pPr marL="12700" lvl="0" indent="0" algn="ctr" rtl="0">
              <a:lnSpc>
                <a:spcPct val="115000"/>
              </a:lnSpc>
              <a:spcBef>
                <a:spcPts val="100"/>
              </a:spcBef>
              <a:spcAft>
                <a:spcPts val="0"/>
              </a:spcAft>
              <a:buClr>
                <a:schemeClr val="dk1"/>
              </a:buClr>
              <a:buSzPct val="45833"/>
              <a:buFont typeface="Arial"/>
              <a:buNone/>
            </a:pPr>
            <a:endParaRPr sz="2400">
              <a:latin typeface="Arial"/>
              <a:ea typeface="Arial"/>
              <a:cs typeface="Arial"/>
              <a:sym typeface="Arial"/>
            </a:endParaRPr>
          </a:p>
          <a:p>
            <a:pPr marL="12700" lvl="0" indent="0" algn="ctr" rtl="0">
              <a:lnSpc>
                <a:spcPct val="115000"/>
              </a:lnSpc>
              <a:spcBef>
                <a:spcPts val="100"/>
              </a:spcBef>
              <a:spcAft>
                <a:spcPts val="0"/>
              </a:spcAft>
              <a:buClr>
                <a:schemeClr val="dk1"/>
              </a:buClr>
              <a:buSzPct val="45833"/>
              <a:buFont typeface="Arial"/>
              <a:buNone/>
            </a:pPr>
            <a:endParaRPr sz="2400">
              <a:latin typeface="Arial"/>
              <a:ea typeface="Arial"/>
              <a:cs typeface="Arial"/>
              <a:sym typeface="Arial"/>
            </a:endParaRPr>
          </a:p>
          <a:p>
            <a:pPr marL="12700" lvl="0" indent="0" algn="ctr" rtl="0">
              <a:lnSpc>
                <a:spcPct val="115000"/>
              </a:lnSpc>
              <a:spcBef>
                <a:spcPts val="100"/>
              </a:spcBef>
              <a:spcAft>
                <a:spcPts val="0"/>
              </a:spcAft>
              <a:buClr>
                <a:schemeClr val="dk1"/>
              </a:buClr>
              <a:buSzPct val="45833"/>
              <a:buFont typeface="Arial"/>
              <a:buNone/>
            </a:pPr>
            <a:r>
              <a:rPr lang="en-US" sz="2400">
                <a:latin typeface="Arial"/>
                <a:ea typeface="Arial"/>
                <a:cs typeface="Arial"/>
                <a:sym typeface="Arial"/>
              </a:rPr>
              <a:t>Handwritten Digit Recognition with SVM and Image Preprocessing Techniques</a:t>
            </a:r>
            <a:endParaRPr sz="2400">
              <a:latin typeface="Arial"/>
              <a:ea typeface="Arial"/>
              <a:cs typeface="Arial"/>
              <a:sym typeface="Arial"/>
            </a:endParaRPr>
          </a:p>
          <a:p>
            <a:pPr marL="0" lvl="0" indent="0" algn="ctr" rtl="0">
              <a:lnSpc>
                <a:spcPct val="100000"/>
              </a:lnSpc>
              <a:spcBef>
                <a:spcPts val="0"/>
              </a:spcBef>
              <a:spcAft>
                <a:spcPts val="0"/>
              </a:spcAft>
              <a:buClr>
                <a:schemeClr val="dk1"/>
              </a:buClr>
              <a:buSzPct val="203708"/>
              <a:buFont typeface="Calibri"/>
              <a:buNone/>
            </a:pPr>
            <a:br>
              <a:rPr lang="en-US">
                <a:latin typeface="Times New Roman"/>
                <a:ea typeface="Times New Roman"/>
                <a:cs typeface="Times New Roman"/>
                <a:sym typeface="Times New Roman"/>
              </a:rPr>
            </a:br>
            <a:r>
              <a:rPr lang="en-US" sz="2400">
                <a:latin typeface="Times New Roman"/>
                <a:ea typeface="Times New Roman"/>
                <a:cs typeface="Times New Roman"/>
                <a:sym typeface="Times New Roman"/>
              </a:rPr>
              <a:t> </a:t>
            </a:r>
            <a:endParaRPr sz="2400">
              <a:latin typeface="Times New Roman"/>
              <a:ea typeface="Times New Roman"/>
              <a:cs typeface="Times New Roman"/>
              <a:sym typeface="Times New Roman"/>
            </a:endParaRPr>
          </a:p>
        </p:txBody>
      </p:sp>
      <p:sp>
        <p:nvSpPr>
          <p:cNvPr id="89" name="Google Shape;89;p13"/>
          <p:cNvSpPr txBox="1">
            <a:spLocks noGrp="1"/>
          </p:cNvSpPr>
          <p:nvPr>
            <p:ph type="subTitle" idx="1"/>
          </p:nvPr>
        </p:nvSpPr>
        <p:spPr>
          <a:xfrm>
            <a:off x="4538663" y="4568009"/>
            <a:ext cx="4605337" cy="1981200"/>
          </a:xfrm>
          <a:prstGeom prst="rect">
            <a:avLst/>
          </a:prstGeom>
          <a:noFill/>
          <a:ln>
            <a:noFill/>
          </a:ln>
        </p:spPr>
        <p:txBody>
          <a:bodyPr spcFirstLastPara="1" wrap="square" lIns="91425" tIns="45700" rIns="91425" bIns="45700" anchor="t" anchorCtr="0">
            <a:normAutofit fontScale="70000" lnSpcReduction="20000"/>
          </a:bodyPr>
          <a:lstStyle/>
          <a:p>
            <a:pPr marL="0" lvl="0" indent="0" algn="ctr" rtl="0">
              <a:lnSpc>
                <a:spcPct val="100000"/>
              </a:lnSpc>
              <a:spcBef>
                <a:spcPts val="0"/>
              </a:spcBef>
              <a:spcAft>
                <a:spcPts val="0"/>
              </a:spcAft>
              <a:buClr>
                <a:srgbClr val="888888"/>
              </a:buClr>
              <a:buSzPct val="100000"/>
              <a:buNone/>
            </a:pPr>
            <a:r>
              <a:rPr lang="en-US">
                <a:solidFill>
                  <a:schemeClr val="dk1"/>
                </a:solidFill>
                <a:latin typeface="Times New Roman"/>
                <a:ea typeface="Times New Roman"/>
                <a:cs typeface="Times New Roman"/>
                <a:sym typeface="Times New Roman"/>
              </a:rPr>
              <a:t> </a:t>
            </a:r>
            <a:endParaRPr>
              <a:solidFill>
                <a:schemeClr val="dk1"/>
              </a:solidFill>
              <a:latin typeface="Times New Roman"/>
              <a:ea typeface="Times New Roman"/>
              <a:cs typeface="Times New Roman"/>
              <a:sym typeface="Times New Roman"/>
            </a:endParaRPr>
          </a:p>
          <a:p>
            <a:pPr marL="0" lvl="0" indent="0" algn="ctr" rtl="0">
              <a:lnSpc>
                <a:spcPct val="100000"/>
              </a:lnSpc>
              <a:spcBef>
                <a:spcPts val="0"/>
              </a:spcBef>
              <a:spcAft>
                <a:spcPts val="0"/>
              </a:spcAft>
              <a:buClr>
                <a:srgbClr val="888888"/>
              </a:buClr>
              <a:buSzPct val="100000"/>
              <a:buNone/>
            </a:pPr>
            <a:r>
              <a:rPr lang="en-US">
                <a:solidFill>
                  <a:schemeClr val="dk1"/>
                </a:solidFill>
                <a:latin typeface="Times New Roman"/>
                <a:ea typeface="Times New Roman"/>
                <a:cs typeface="Times New Roman"/>
                <a:sym typeface="Times New Roman"/>
              </a:rPr>
              <a:t>Student 3:RA2311003010685</a:t>
            </a:r>
            <a:endParaRPr>
              <a:solidFill>
                <a:schemeClr val="dk1"/>
              </a:solidFill>
              <a:latin typeface="Times New Roman"/>
              <a:ea typeface="Times New Roman"/>
              <a:cs typeface="Times New Roman"/>
              <a:sym typeface="Times New Roman"/>
            </a:endParaRPr>
          </a:p>
          <a:p>
            <a:pPr marL="0" lvl="0" indent="0" algn="ctr" rtl="0">
              <a:lnSpc>
                <a:spcPct val="100000"/>
              </a:lnSpc>
              <a:spcBef>
                <a:spcPts val="0"/>
              </a:spcBef>
              <a:spcAft>
                <a:spcPts val="0"/>
              </a:spcAft>
              <a:buClr>
                <a:srgbClr val="888888"/>
              </a:buClr>
              <a:buSzPct val="100000"/>
              <a:buNone/>
            </a:pPr>
            <a:r>
              <a:rPr lang="en-US">
                <a:solidFill>
                  <a:schemeClr val="dk1"/>
                </a:solidFill>
                <a:latin typeface="Times New Roman"/>
                <a:ea typeface="Times New Roman"/>
                <a:cs typeface="Times New Roman"/>
                <a:sym typeface="Times New Roman"/>
              </a:rPr>
              <a:t>Divyansh Aggarwal </a:t>
            </a:r>
            <a:endParaRPr>
              <a:solidFill>
                <a:schemeClr val="dk1"/>
              </a:solidFill>
              <a:latin typeface="Times New Roman"/>
              <a:ea typeface="Times New Roman"/>
              <a:cs typeface="Times New Roman"/>
              <a:sym typeface="Times New Roman"/>
            </a:endParaRPr>
          </a:p>
          <a:p>
            <a:pPr marL="0" lvl="0" indent="0" algn="ctr" rtl="0">
              <a:lnSpc>
                <a:spcPct val="100000"/>
              </a:lnSpc>
              <a:spcBef>
                <a:spcPts val="590"/>
              </a:spcBef>
              <a:spcAft>
                <a:spcPts val="0"/>
              </a:spcAft>
              <a:buClr>
                <a:srgbClr val="888888"/>
              </a:buClr>
              <a:buSzPct val="100000"/>
              <a:buNone/>
            </a:pPr>
            <a:endParaRPr>
              <a:solidFill>
                <a:schemeClr val="dk1"/>
              </a:solidFill>
              <a:latin typeface="Times New Roman"/>
              <a:ea typeface="Times New Roman"/>
              <a:cs typeface="Times New Roman"/>
              <a:sym typeface="Times New Roman"/>
            </a:endParaRPr>
          </a:p>
          <a:p>
            <a:pPr marL="0" lvl="0" indent="0" algn="ctr" rtl="0">
              <a:lnSpc>
                <a:spcPct val="100000"/>
              </a:lnSpc>
              <a:spcBef>
                <a:spcPts val="590"/>
              </a:spcBef>
              <a:spcAft>
                <a:spcPts val="0"/>
              </a:spcAft>
              <a:buClr>
                <a:srgbClr val="888888"/>
              </a:buClr>
              <a:buSzPct val="100000"/>
              <a:buNone/>
            </a:pPr>
            <a:r>
              <a:rPr lang="en-US">
                <a:solidFill>
                  <a:schemeClr val="dk1"/>
                </a:solidFill>
                <a:latin typeface="Times New Roman"/>
                <a:ea typeface="Times New Roman"/>
                <a:cs typeface="Times New Roman"/>
                <a:sym typeface="Times New Roman"/>
              </a:rPr>
              <a:t>Student 4 :RA2311003010691</a:t>
            </a:r>
            <a:endParaRPr>
              <a:solidFill>
                <a:schemeClr val="dk1"/>
              </a:solidFill>
              <a:latin typeface="Times New Roman"/>
              <a:ea typeface="Times New Roman"/>
              <a:cs typeface="Times New Roman"/>
              <a:sym typeface="Times New Roman"/>
            </a:endParaRPr>
          </a:p>
          <a:p>
            <a:pPr marL="0" lvl="0" indent="0" algn="ctr" rtl="0">
              <a:lnSpc>
                <a:spcPct val="100000"/>
              </a:lnSpc>
              <a:spcBef>
                <a:spcPts val="590"/>
              </a:spcBef>
              <a:spcAft>
                <a:spcPts val="0"/>
              </a:spcAft>
              <a:buClr>
                <a:srgbClr val="888888"/>
              </a:buClr>
              <a:buSzPct val="100000"/>
              <a:buNone/>
            </a:pPr>
            <a:r>
              <a:rPr lang="en-US">
                <a:solidFill>
                  <a:schemeClr val="dk1"/>
                </a:solidFill>
                <a:latin typeface="Times New Roman"/>
                <a:ea typeface="Times New Roman"/>
                <a:cs typeface="Times New Roman"/>
                <a:sym typeface="Times New Roman"/>
              </a:rPr>
              <a:t>Gautam Kumar </a:t>
            </a:r>
            <a:endParaRPr>
              <a:solidFill>
                <a:schemeClr val="dk1"/>
              </a:solidFill>
              <a:latin typeface="Times New Roman"/>
              <a:ea typeface="Times New Roman"/>
              <a:cs typeface="Times New Roman"/>
              <a:sym typeface="Times New Roman"/>
            </a:endParaRPr>
          </a:p>
        </p:txBody>
      </p:sp>
      <p:pic>
        <p:nvPicPr>
          <p:cNvPr id="90" name="Google Shape;90;p13"/>
          <p:cNvPicPr preferRelativeResize="0"/>
          <p:nvPr/>
        </p:nvPicPr>
        <p:blipFill rotWithShape="1">
          <a:blip r:embed="rId3">
            <a:alphaModFix/>
          </a:blip>
          <a:srcRect/>
          <a:stretch/>
        </p:blipFill>
        <p:spPr>
          <a:xfrm>
            <a:off x="228600" y="553353"/>
            <a:ext cx="1735931" cy="755015"/>
          </a:xfrm>
          <a:prstGeom prst="rect">
            <a:avLst/>
          </a:prstGeom>
          <a:noFill/>
          <a:ln>
            <a:noFill/>
          </a:ln>
        </p:spPr>
      </p:pic>
      <p:sp>
        <p:nvSpPr>
          <p:cNvPr id="91" name="Google Shape;91;p13"/>
          <p:cNvSpPr/>
          <p:nvPr/>
        </p:nvSpPr>
        <p:spPr>
          <a:xfrm>
            <a:off x="1964531" y="271274"/>
            <a:ext cx="6172200" cy="2583180"/>
          </a:xfrm>
          <a:prstGeom prst="rect">
            <a:avLst/>
          </a:prstGeom>
          <a:noFill/>
          <a:ln>
            <a:noFill/>
          </a:ln>
        </p:spPr>
        <p:txBody>
          <a:bodyPr spcFirstLastPara="1" wrap="square" lIns="91425" tIns="45700" rIns="91425" bIns="45700" anchor="t" anchorCtr="0">
            <a:noAutofit/>
          </a:bodyPr>
          <a:lstStyle/>
          <a:p>
            <a:pPr marL="0" marR="0" lvl="0" indent="0" algn="ctr" rtl="0">
              <a:lnSpc>
                <a:spcPct val="150000"/>
              </a:lnSpc>
              <a:spcBef>
                <a:spcPts val="0"/>
              </a:spcBef>
              <a:spcAft>
                <a:spcPts val="0"/>
              </a:spcAft>
              <a:buClr>
                <a:srgbClr val="000000"/>
              </a:buClr>
              <a:buSzPts val="1800"/>
              <a:buFont typeface="Arial"/>
              <a:buNone/>
            </a:pPr>
            <a:r>
              <a:rPr lang="en-US" sz="1800" b="1" i="0" u="none" strike="noStrike" cap="none" dirty="0">
                <a:solidFill>
                  <a:schemeClr val="dk1"/>
                </a:solidFill>
                <a:latin typeface="Times New Roman"/>
                <a:ea typeface="Times New Roman"/>
                <a:cs typeface="Times New Roman"/>
                <a:sym typeface="Times New Roman"/>
              </a:rPr>
              <a:t>SRM INSTITUTE OF SCIENCE AND TECHNOLOGY </a:t>
            </a:r>
            <a:endParaRPr sz="1800" b="0" i="0" u="none" strike="noStrike" cap="none" dirty="0">
              <a:solidFill>
                <a:schemeClr val="dk1"/>
              </a:solidFill>
              <a:latin typeface="Times New Roman"/>
              <a:ea typeface="Times New Roman"/>
              <a:cs typeface="Times New Roman"/>
              <a:sym typeface="Times New Roman"/>
            </a:endParaRPr>
          </a:p>
          <a:p>
            <a:pPr marL="0" marR="0" lvl="0" indent="0" algn="ctr" rtl="0">
              <a:lnSpc>
                <a:spcPct val="150000"/>
              </a:lnSpc>
              <a:spcBef>
                <a:spcPts val="0"/>
              </a:spcBef>
              <a:spcAft>
                <a:spcPts val="0"/>
              </a:spcAft>
              <a:buClr>
                <a:srgbClr val="000000"/>
              </a:buClr>
              <a:buSzPts val="1800"/>
              <a:buFont typeface="Arial"/>
              <a:buNone/>
            </a:pPr>
            <a:r>
              <a:rPr lang="en-US" sz="1800" b="1" i="0" u="none" strike="noStrike" cap="none" dirty="0">
                <a:solidFill>
                  <a:schemeClr val="dk1"/>
                </a:solidFill>
                <a:latin typeface="Times New Roman"/>
                <a:ea typeface="Times New Roman"/>
                <a:cs typeface="Times New Roman"/>
                <a:sym typeface="Times New Roman"/>
              </a:rPr>
              <a:t>SCHOOL OF COMPUTING</a:t>
            </a:r>
            <a:endParaRPr sz="1800" b="0" i="0" u="none" strike="noStrike" cap="none" dirty="0">
              <a:solidFill>
                <a:schemeClr val="dk1"/>
              </a:solidFill>
              <a:latin typeface="Times New Roman"/>
              <a:ea typeface="Times New Roman"/>
              <a:cs typeface="Times New Roman"/>
              <a:sym typeface="Times New Roman"/>
            </a:endParaRPr>
          </a:p>
          <a:p>
            <a:pPr marL="0" marR="0" lvl="0" indent="0" algn="ctr" rtl="0">
              <a:lnSpc>
                <a:spcPct val="150000"/>
              </a:lnSpc>
              <a:spcBef>
                <a:spcPts val="0"/>
              </a:spcBef>
              <a:spcAft>
                <a:spcPts val="0"/>
              </a:spcAft>
              <a:buClr>
                <a:srgbClr val="000000"/>
              </a:buClr>
              <a:buSzPts val="1800"/>
              <a:buFont typeface="Arial"/>
              <a:buNone/>
            </a:pPr>
            <a:r>
              <a:rPr lang="en-US" sz="1800" b="1" i="0" u="none" strike="noStrike" cap="none" dirty="0">
                <a:solidFill>
                  <a:schemeClr val="dk1"/>
                </a:solidFill>
                <a:latin typeface="Times New Roman"/>
                <a:ea typeface="Times New Roman"/>
                <a:cs typeface="Times New Roman"/>
                <a:sym typeface="Times New Roman"/>
              </a:rPr>
              <a:t>DEPARTMENT OF COMPUTING TECHNOLOGIES</a:t>
            </a:r>
            <a:endParaRPr sz="1800" b="0" i="0" u="none" strike="noStrike" cap="none" dirty="0">
              <a:solidFill>
                <a:schemeClr val="dk1"/>
              </a:solidFill>
              <a:latin typeface="Times New Roman"/>
              <a:ea typeface="Times New Roman"/>
              <a:cs typeface="Times New Roman"/>
              <a:sym typeface="Times New Roman"/>
            </a:endParaRPr>
          </a:p>
          <a:p>
            <a:pPr marL="0" marR="0" lvl="0" indent="0" algn="ctr" rtl="0">
              <a:lnSpc>
                <a:spcPct val="150000"/>
              </a:lnSpc>
              <a:spcBef>
                <a:spcPts val="0"/>
              </a:spcBef>
              <a:spcAft>
                <a:spcPts val="0"/>
              </a:spcAft>
              <a:buClr>
                <a:srgbClr val="000000"/>
              </a:buClr>
              <a:buSzPts val="1800"/>
              <a:buFont typeface="Arial"/>
              <a:buNone/>
            </a:pPr>
            <a:r>
              <a:rPr lang="en-US" sz="1800" b="1" i="0" u="none" strike="noStrike" cap="none" dirty="0">
                <a:solidFill>
                  <a:schemeClr val="dk1"/>
                </a:solidFill>
                <a:latin typeface="Times New Roman"/>
                <a:ea typeface="Times New Roman"/>
                <a:cs typeface="Times New Roman"/>
                <a:sym typeface="Times New Roman"/>
              </a:rPr>
              <a:t>21CSC305P-Machine Learning</a:t>
            </a:r>
            <a:endParaRPr sz="1800" b="1" i="0" u="none" strike="noStrike" cap="none" dirty="0">
              <a:solidFill>
                <a:schemeClr val="dk1"/>
              </a:solidFill>
              <a:latin typeface="Times New Roman"/>
              <a:ea typeface="Times New Roman"/>
              <a:cs typeface="Times New Roman"/>
              <a:sym typeface="Times New Roman"/>
            </a:endParaRPr>
          </a:p>
          <a:p>
            <a:pPr marL="0" marR="0" lvl="0" indent="0" algn="ctr" rtl="0">
              <a:lnSpc>
                <a:spcPct val="150000"/>
              </a:lnSpc>
              <a:spcBef>
                <a:spcPts val="0"/>
              </a:spcBef>
              <a:spcAft>
                <a:spcPts val="0"/>
              </a:spcAft>
              <a:buClr>
                <a:srgbClr val="000000"/>
              </a:buClr>
              <a:buSzPts val="1800"/>
              <a:buFont typeface="Arial"/>
              <a:buNone/>
            </a:pPr>
            <a:r>
              <a:rPr lang="en-US" sz="1800" b="1" i="0" u="none" strike="noStrike" cap="none" dirty="0">
                <a:solidFill>
                  <a:schemeClr val="dk1"/>
                </a:solidFill>
                <a:latin typeface="Times New Roman"/>
                <a:ea typeface="Times New Roman"/>
                <a:cs typeface="Times New Roman"/>
                <a:sym typeface="Times New Roman"/>
              </a:rPr>
              <a:t>Mini Project</a:t>
            </a:r>
            <a:endParaRPr sz="1800" b="1" i="0" u="none" strike="noStrike" cap="none" dirty="0">
              <a:solidFill>
                <a:schemeClr val="dk1"/>
              </a:solidFill>
              <a:latin typeface="Times New Roman"/>
              <a:ea typeface="Times New Roman"/>
              <a:cs typeface="Times New Roman"/>
              <a:sym typeface="Times New Roman"/>
            </a:endParaRPr>
          </a:p>
          <a:p>
            <a:pPr lvl="0" algn="ctr">
              <a:lnSpc>
                <a:spcPct val="150000"/>
              </a:lnSpc>
              <a:buSzPts val="1800"/>
            </a:pPr>
            <a:r>
              <a:rPr lang="en-US" sz="1800" b="1" i="0" u="none" strike="noStrike" cap="none" dirty="0">
                <a:solidFill>
                  <a:schemeClr val="dk1"/>
                </a:solidFill>
                <a:latin typeface="Times New Roman"/>
                <a:ea typeface="Times New Roman"/>
                <a:cs typeface="Times New Roman"/>
                <a:sym typeface="Times New Roman"/>
              </a:rPr>
              <a:t>Review II</a:t>
            </a:r>
            <a:r>
              <a:rPr lang="en-US" sz="1800" b="1" dirty="0">
                <a:solidFill>
                  <a:schemeClr val="dk1"/>
                </a:solidFill>
                <a:latin typeface="Times New Roman"/>
                <a:ea typeface="Times New Roman"/>
                <a:cs typeface="Times New Roman"/>
                <a:sym typeface="Times New Roman"/>
              </a:rPr>
              <a:t>I</a:t>
            </a:r>
            <a:endParaRPr sz="1800" b="1" dirty="0">
              <a:solidFill>
                <a:schemeClr val="dk1"/>
              </a:solidFill>
              <a:latin typeface="Times New Roman"/>
              <a:ea typeface="Times New Roman"/>
              <a:cs typeface="Times New Roman"/>
              <a:sym typeface="Times New Roman"/>
            </a:endParaRPr>
          </a:p>
        </p:txBody>
      </p:sp>
      <p:sp>
        <p:nvSpPr>
          <p:cNvPr id="92" name="Google Shape;92;p13"/>
          <p:cNvSpPr txBox="1"/>
          <p:nvPr/>
        </p:nvSpPr>
        <p:spPr>
          <a:xfrm>
            <a:off x="228600" y="5243512"/>
            <a:ext cx="3471862" cy="1190625"/>
          </a:xfrm>
          <a:prstGeom prst="rect">
            <a:avLst/>
          </a:prstGeom>
          <a:noFill/>
          <a:ln>
            <a:noFill/>
          </a:ln>
        </p:spPr>
        <p:txBody>
          <a:bodyPr spcFirstLastPara="1" wrap="square" lIns="91425" tIns="45700" rIns="91425" bIns="45700" anchor="t" anchorCtr="0">
            <a:normAutofit/>
          </a:bodyPr>
          <a:lstStyle/>
          <a:p>
            <a:pPr marL="0" marR="0" lvl="0" indent="0" algn="ctr" rtl="0">
              <a:lnSpc>
                <a:spcPct val="170000"/>
              </a:lnSpc>
              <a:spcBef>
                <a:spcPts val="590"/>
              </a:spcBef>
              <a:spcAft>
                <a:spcPts val="0"/>
              </a:spcAft>
              <a:buClr>
                <a:srgbClr val="888888"/>
              </a:buClr>
              <a:buSzPts val="3200"/>
              <a:buFont typeface="Arial"/>
              <a:buNone/>
            </a:pPr>
            <a:r>
              <a:rPr lang="en-US" sz="3200" b="0" i="0" u="none" strike="noStrike" cap="none">
                <a:solidFill>
                  <a:srgbClr val="888888"/>
                </a:solidFill>
                <a:latin typeface="Times New Roman"/>
                <a:ea typeface="Times New Roman"/>
                <a:cs typeface="Times New Roman"/>
                <a:sym typeface="Times New Roman"/>
              </a:rPr>
              <a:t> </a:t>
            </a:r>
            <a:endParaRPr sz="3200" b="0" i="0" u="none" strike="noStrike" cap="none">
              <a:solidFill>
                <a:srgbClr val="888888"/>
              </a:solidFill>
              <a:latin typeface="Times New Roman"/>
              <a:ea typeface="Times New Roman"/>
              <a:cs typeface="Times New Roman"/>
              <a:sym typeface="Times New Roman"/>
            </a:endParaRPr>
          </a:p>
        </p:txBody>
      </p:sp>
      <p:sp>
        <p:nvSpPr>
          <p:cNvPr id="93" name="Google Shape;93;p13"/>
          <p:cNvSpPr txBox="1"/>
          <p:nvPr/>
        </p:nvSpPr>
        <p:spPr>
          <a:xfrm>
            <a:off x="0" y="4551411"/>
            <a:ext cx="4605337" cy="1981200"/>
          </a:xfrm>
          <a:prstGeom prst="rect">
            <a:avLst/>
          </a:prstGeom>
          <a:noFill/>
          <a:ln>
            <a:noFill/>
          </a:ln>
        </p:spPr>
        <p:txBody>
          <a:bodyPr spcFirstLastPara="1" wrap="square" lIns="91425" tIns="45700" rIns="91425" bIns="45700" anchor="t" anchorCtr="0">
            <a:normAutofit fontScale="70000" lnSpcReduction="20000"/>
          </a:bodyPr>
          <a:lstStyle/>
          <a:p>
            <a:pPr marL="0" marR="0" lvl="0" indent="0" algn="ctr" rtl="0">
              <a:lnSpc>
                <a:spcPct val="100000"/>
              </a:lnSpc>
              <a:spcBef>
                <a:spcPts val="0"/>
              </a:spcBef>
              <a:spcAft>
                <a:spcPts val="0"/>
              </a:spcAft>
              <a:buClr>
                <a:srgbClr val="888888"/>
              </a:buClr>
              <a:buSzPct val="142857"/>
              <a:buFont typeface="Arial"/>
              <a:buNone/>
            </a:pPr>
            <a:endParaRPr sz="32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888888"/>
              </a:buClr>
              <a:buSzPct val="142857"/>
              <a:buFont typeface="Arial"/>
              <a:buNone/>
            </a:pPr>
            <a:r>
              <a:rPr lang="en-US" sz="3200" b="0" i="0" u="none" strike="noStrike" cap="none">
                <a:solidFill>
                  <a:schemeClr val="dk1"/>
                </a:solidFill>
                <a:latin typeface="Times New Roman"/>
                <a:ea typeface="Times New Roman"/>
                <a:cs typeface="Times New Roman"/>
                <a:sym typeface="Times New Roman"/>
              </a:rPr>
              <a:t>Student 1: </a:t>
            </a:r>
            <a:r>
              <a:rPr lang="en-US" sz="3200">
                <a:solidFill>
                  <a:schemeClr val="dk1"/>
                </a:solidFill>
                <a:latin typeface="Times New Roman"/>
                <a:ea typeface="Times New Roman"/>
                <a:cs typeface="Times New Roman"/>
                <a:sym typeface="Times New Roman"/>
              </a:rPr>
              <a:t>RA2311003010677</a:t>
            </a:r>
            <a:endParaRPr sz="32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888888"/>
              </a:buClr>
              <a:buSzPct val="142857"/>
              <a:buFont typeface="Arial"/>
              <a:buNone/>
            </a:pPr>
            <a:r>
              <a:rPr lang="en-US" sz="3200">
                <a:solidFill>
                  <a:schemeClr val="dk1"/>
                </a:solidFill>
                <a:latin typeface="Times New Roman"/>
                <a:ea typeface="Times New Roman"/>
                <a:cs typeface="Times New Roman"/>
                <a:sym typeface="Times New Roman"/>
              </a:rPr>
              <a:t>Ushnish Ghosal</a:t>
            </a:r>
            <a:endParaRPr sz="32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590"/>
              </a:spcBef>
              <a:spcAft>
                <a:spcPts val="0"/>
              </a:spcAft>
              <a:buClr>
                <a:srgbClr val="888888"/>
              </a:buClr>
              <a:buSzPct val="142857"/>
              <a:buFont typeface="Arial"/>
              <a:buNone/>
            </a:pPr>
            <a:endParaRPr sz="32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590"/>
              </a:spcBef>
              <a:spcAft>
                <a:spcPts val="0"/>
              </a:spcAft>
              <a:buClr>
                <a:srgbClr val="888888"/>
              </a:buClr>
              <a:buSzPct val="142857"/>
              <a:buFont typeface="Arial"/>
              <a:buNone/>
            </a:pPr>
            <a:r>
              <a:rPr lang="en-US" sz="3200" b="0" i="0" u="none" strike="noStrike" cap="none">
                <a:solidFill>
                  <a:schemeClr val="dk1"/>
                </a:solidFill>
                <a:latin typeface="Times New Roman"/>
                <a:ea typeface="Times New Roman"/>
                <a:cs typeface="Times New Roman"/>
                <a:sym typeface="Times New Roman"/>
              </a:rPr>
              <a:t>Student 2 : RA2311003010679</a:t>
            </a:r>
            <a:endParaRPr sz="32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590"/>
              </a:spcBef>
              <a:spcAft>
                <a:spcPts val="0"/>
              </a:spcAft>
              <a:buClr>
                <a:srgbClr val="888888"/>
              </a:buClr>
              <a:buSzPct val="142857"/>
              <a:buFont typeface="Arial"/>
              <a:buNone/>
            </a:pPr>
            <a:r>
              <a:rPr lang="en-US" sz="3200">
                <a:solidFill>
                  <a:schemeClr val="dk1"/>
                </a:solidFill>
                <a:latin typeface="Times New Roman"/>
                <a:ea typeface="Times New Roman"/>
                <a:cs typeface="Times New Roman"/>
                <a:sym typeface="Times New Roman"/>
              </a:rPr>
              <a:t>Aayush Mishra</a:t>
            </a:r>
            <a:endParaRPr sz="320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106" name="Google Shape;106;p15"/>
          <p:cNvPicPr preferRelativeResize="0"/>
          <p:nvPr/>
        </p:nvPicPr>
        <p:blipFill rotWithShape="1">
          <a:blip r:embed="rId3">
            <a:alphaModFix/>
          </a:blip>
          <a:srcRect/>
          <a:stretch/>
        </p:blipFill>
        <p:spPr>
          <a:xfrm>
            <a:off x="381000" y="457200"/>
            <a:ext cx="2237740" cy="755015"/>
          </a:xfrm>
          <a:prstGeom prst="rect">
            <a:avLst/>
          </a:prstGeom>
          <a:noFill/>
          <a:ln>
            <a:noFill/>
          </a:ln>
        </p:spPr>
      </p:pic>
      <p:sp>
        <p:nvSpPr>
          <p:cNvPr id="108" name="Google Shape;108;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a:p>
        </p:txBody>
      </p:sp>
      <p:sp>
        <p:nvSpPr>
          <p:cNvPr id="109" name="Google Shape;109;p15"/>
          <p:cNvSpPr txBox="1">
            <a:spLocks noGrp="1"/>
          </p:cNvSpPr>
          <p:nvPr>
            <p:ph type="title"/>
          </p:nvPr>
        </p:nvSpPr>
        <p:spPr>
          <a:xfrm>
            <a:off x="140335" y="136525"/>
            <a:ext cx="8546465" cy="1498600"/>
          </a:xfrm>
          <a:prstGeom prst="rect">
            <a:avLst/>
          </a:prstGeom>
          <a:noFill/>
          <a:ln>
            <a:noFill/>
          </a:ln>
        </p:spPr>
        <p:txBody>
          <a:bodyPr spcFirstLastPara="1" wrap="square" lIns="91425" tIns="45700" rIns="91425" bIns="45700" anchor="ctr" anchorCtr="0">
            <a:normAutofit fontScale="90000"/>
          </a:bodyPr>
          <a:lstStyle/>
          <a:p>
            <a:pPr lvl="0">
              <a:buSzPct val="111000"/>
            </a:pPr>
            <a:r>
              <a:rPr lang="en-US" dirty="0"/>
              <a:t>      </a:t>
            </a:r>
            <a:r>
              <a:rPr lang="en-US" dirty="0">
                <a:latin typeface="Times New Roman"/>
                <a:ea typeface="Times New Roman"/>
                <a:cs typeface="Times New Roman"/>
                <a:sym typeface="Times New Roman"/>
              </a:rPr>
              <a:t>      </a:t>
            </a:r>
            <a:br>
              <a:rPr lang="en-US" dirty="0">
                <a:latin typeface="Times New Roman"/>
                <a:ea typeface="Times New Roman"/>
                <a:cs typeface="Times New Roman"/>
                <a:sym typeface="Times New Roman"/>
              </a:rPr>
            </a:br>
            <a:r>
              <a:rPr lang="en-US" dirty="0">
                <a:latin typeface="Times New Roman"/>
                <a:ea typeface="Times New Roman"/>
                <a:cs typeface="Times New Roman"/>
                <a:sym typeface="Times New Roman"/>
              </a:rPr>
              <a:t>        </a:t>
            </a:r>
            <a:r>
              <a:rPr lang="en-IN" dirty="0"/>
              <a:t>Problem Overview</a:t>
            </a:r>
            <a:br>
              <a:rPr lang="en-US" dirty="0">
                <a:latin typeface="Times New Roman"/>
                <a:ea typeface="Times New Roman"/>
                <a:cs typeface="Times New Roman"/>
                <a:sym typeface="Times New Roman"/>
              </a:rPr>
            </a:br>
            <a:endParaRPr dirty="0">
              <a:latin typeface="Times New Roman"/>
              <a:ea typeface="Times New Roman"/>
              <a:cs typeface="Times New Roman"/>
              <a:sym typeface="Times New Roman"/>
            </a:endParaRPr>
          </a:p>
        </p:txBody>
      </p:sp>
      <p:sp>
        <p:nvSpPr>
          <p:cNvPr id="110" name="Google Shape;110;p15"/>
          <p:cNvSpPr txBox="1"/>
          <p:nvPr/>
        </p:nvSpPr>
        <p:spPr>
          <a:xfrm>
            <a:off x="337191" y="1555036"/>
            <a:ext cx="8666474" cy="368935"/>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Clr>
                <a:srgbClr val="000000"/>
              </a:buClr>
              <a:buSzPts val="2000"/>
              <a:buFont typeface="Arial"/>
              <a:buNone/>
            </a:pPr>
            <a:r>
              <a:rPr lang="en-US" sz="2000" b="0" i="0" u="none" strike="noStrike" cap="none">
                <a:solidFill>
                  <a:srgbClr val="000000"/>
                </a:solidFill>
                <a:latin typeface="Times New Roman"/>
                <a:ea typeface="Times New Roman"/>
                <a:cs typeface="Times New Roman"/>
                <a:sym typeface="Times New Roman"/>
              </a:rPr>
              <a:t> </a:t>
            </a:r>
            <a:endParaRPr sz="2000" b="0" i="0" u="none" strike="noStrike" cap="none">
              <a:solidFill>
                <a:srgbClr val="000000"/>
              </a:solidFill>
              <a:latin typeface="Arial"/>
              <a:ea typeface="Arial"/>
              <a:cs typeface="Arial"/>
              <a:sym typeface="Arial"/>
            </a:endParaRPr>
          </a:p>
        </p:txBody>
      </p:sp>
      <p:sp>
        <p:nvSpPr>
          <p:cNvPr id="111" name="Google Shape;111;p15"/>
          <p:cNvSpPr txBox="1"/>
          <p:nvPr/>
        </p:nvSpPr>
        <p:spPr>
          <a:xfrm>
            <a:off x="634475" y="1555025"/>
            <a:ext cx="8259900" cy="4436100"/>
          </a:xfrm>
          <a:prstGeom prst="rect">
            <a:avLst/>
          </a:prstGeom>
          <a:noFill/>
          <a:ln>
            <a:noFill/>
          </a:ln>
        </p:spPr>
        <p:txBody>
          <a:bodyPr spcFirstLastPara="1" wrap="square" lIns="91425" tIns="91425" rIns="91425" bIns="91425" anchor="t" anchorCtr="0">
            <a:noAutofit/>
          </a:bodyPr>
          <a:lstStyle/>
          <a:p>
            <a:pPr>
              <a:spcAft>
                <a:spcPts val="1200"/>
              </a:spcAft>
            </a:pPr>
            <a:r>
              <a:rPr lang="en-US" sz="1800" b="1" dirty="0">
                <a:solidFill>
                  <a:srgbClr val="1B1C1D"/>
                </a:solidFill>
                <a:latin typeface="Arial" panose="020B0604020202020204" pitchFamily="34" charset="0"/>
              </a:rPr>
              <a:t>Problem Recap:</a:t>
            </a:r>
            <a:r>
              <a:rPr lang="en-US" sz="1800" dirty="0">
                <a:solidFill>
                  <a:srgbClr val="1B1C1D"/>
                </a:solidFill>
                <a:latin typeface="Arial" panose="020B0604020202020204" pitchFamily="34" charset="0"/>
              </a:rPr>
              <a:t> Recognizing handwritten digits from varied sources is challenging due to noise, distortions, and diverse handwriting styles. While standard models work on clean datasets like MNIST, their accuracy drops on complex, real-world images.</a:t>
            </a:r>
            <a:endParaRPr lang="en-US" sz="1800" dirty="0"/>
          </a:p>
          <a:p>
            <a:pPr>
              <a:spcAft>
                <a:spcPts val="600"/>
              </a:spcAft>
            </a:pPr>
            <a:r>
              <a:rPr lang="en-US" sz="1800" b="1" dirty="0">
                <a:solidFill>
                  <a:srgbClr val="1B1C1D"/>
                </a:solidFill>
                <a:latin typeface="Arial" panose="020B0604020202020204" pitchFamily="34" charset="0"/>
              </a:rPr>
              <a:t>Project Evolution:</a:t>
            </a:r>
            <a:endParaRPr lang="en-US" sz="1800" dirty="0"/>
          </a:p>
          <a:p>
            <a:pPr fontAlgn="base"/>
            <a:r>
              <a:rPr lang="en-US" sz="1800" b="1" dirty="0">
                <a:solidFill>
                  <a:srgbClr val="1B1C1D"/>
                </a:solidFill>
                <a:latin typeface="Arial" panose="020B0604020202020204" pitchFamily="34" charset="0"/>
              </a:rPr>
              <a:t>Review 1:</a:t>
            </a:r>
            <a:r>
              <a:rPr lang="en-US" sz="1800" dirty="0">
                <a:solidFill>
                  <a:srgbClr val="1B1C1D"/>
                </a:solidFill>
                <a:latin typeface="Arial" panose="020B0604020202020204" pitchFamily="34" charset="0"/>
              </a:rPr>
              <a:t> Proposed using SVM for its robustness in high-dimensional spaces.</a:t>
            </a:r>
          </a:p>
          <a:p>
            <a:pPr fontAlgn="base"/>
            <a:r>
              <a:rPr lang="en-US" sz="1800" b="1" dirty="0">
                <a:solidFill>
                  <a:srgbClr val="1B1C1D"/>
                </a:solidFill>
                <a:latin typeface="Arial" panose="020B0604020202020204" pitchFamily="34" charset="0"/>
              </a:rPr>
              <a:t>Review 2:</a:t>
            </a:r>
            <a:r>
              <a:rPr lang="en-US" sz="1800" dirty="0">
                <a:solidFill>
                  <a:srgbClr val="1B1C1D"/>
                </a:solidFill>
                <a:latin typeface="Arial" panose="020B0604020202020204" pitchFamily="34" charset="0"/>
              </a:rPr>
              <a:t> Implemented an efficient PCA+SVM pipeline to reduce dimensionality (from 784 to 50) and training time, achieving 97.86% accuracy.</a:t>
            </a:r>
          </a:p>
          <a:p>
            <a:pPr fontAlgn="base">
              <a:spcAft>
                <a:spcPts val="1800"/>
              </a:spcAft>
            </a:pPr>
            <a:r>
              <a:rPr lang="en-US" sz="1800" b="1" dirty="0">
                <a:solidFill>
                  <a:srgbClr val="1B1C1D"/>
                </a:solidFill>
                <a:latin typeface="Arial" panose="020B0604020202020204" pitchFamily="34" charset="0"/>
              </a:rPr>
              <a:t>Review 3 (Current):</a:t>
            </a:r>
            <a:r>
              <a:rPr lang="en-US" sz="1800" dirty="0">
                <a:solidFill>
                  <a:srgbClr val="1B1C1D"/>
                </a:solidFill>
                <a:latin typeface="Arial" panose="020B0604020202020204" pitchFamily="34" charset="0"/>
              </a:rPr>
              <a:t> To push for superior accuracy, we replaced the linear PCA-based feature extraction with a Convolutional Neural Network (CNN), creating a hybrid CNN-PCA-SVM model.</a:t>
            </a:r>
          </a:p>
          <a:p>
            <a:pPr>
              <a:buNone/>
            </a:pPr>
            <a:r>
              <a:rPr lang="en-US" sz="1800" b="1" dirty="0">
                <a:solidFill>
                  <a:srgbClr val="1B1C1D"/>
                </a:solidFill>
                <a:latin typeface="Arial" panose="020B0604020202020204" pitchFamily="34" charset="0"/>
              </a:rPr>
              <a:t>Motivation:</a:t>
            </a:r>
            <a:r>
              <a:rPr lang="en-US" sz="1800" dirty="0">
                <a:solidFill>
                  <a:srgbClr val="1B1C1D"/>
                </a:solidFill>
                <a:latin typeface="Arial" panose="020B0604020202020204" pitchFamily="34" charset="0"/>
              </a:rPr>
              <a:t> The goal is to compare our efficient PCA+SVM model against a deep learning feature extraction approach to determine the performance ceiling for this task.</a:t>
            </a:r>
            <a:endParaRPr lang="en-US" sz="1800" dirty="0"/>
          </a:p>
          <a:p>
            <a:pPr marL="0" lvl="0" indent="0" algn="l" rtl="0">
              <a:lnSpc>
                <a:spcPct val="115000"/>
              </a:lnSpc>
              <a:spcBef>
                <a:spcPts val="1400"/>
              </a:spcBef>
              <a:spcAft>
                <a:spcPts val="400"/>
              </a:spcAft>
              <a:buClr>
                <a:schemeClr val="dk1"/>
              </a:buClr>
              <a:buSzPts val="1100"/>
              <a:buFont typeface="Arial"/>
              <a:buNone/>
            </a:pPr>
            <a:endParaRPr sz="1300" b="1" dirty="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6"/>
          <p:cNvSpPr txBox="1">
            <a:spLocks noGrp="1"/>
          </p:cNvSpPr>
          <p:nvPr>
            <p:ph type="title"/>
          </p:nvPr>
        </p:nvSpPr>
        <p:spPr>
          <a:xfrm>
            <a:off x="457200" y="94872"/>
            <a:ext cx="8229600" cy="1143000"/>
          </a:xfrm>
          <a:prstGeom prst="rect">
            <a:avLst/>
          </a:prstGeom>
          <a:noFill/>
          <a:ln>
            <a:noFill/>
          </a:ln>
        </p:spPr>
        <p:txBody>
          <a:bodyPr spcFirstLastPara="1" wrap="square" lIns="91425" tIns="45700" rIns="91425" bIns="45700" anchor="ctr" anchorCtr="0">
            <a:normAutofit fontScale="90000"/>
          </a:bodyPr>
          <a:lstStyle/>
          <a:p>
            <a:pPr lvl="0">
              <a:buSzPct val="111000"/>
            </a:pPr>
            <a:r>
              <a:rPr lang="en-US" dirty="0"/>
              <a:t>      </a:t>
            </a:r>
            <a:br>
              <a:rPr lang="en-US" dirty="0"/>
            </a:br>
            <a:r>
              <a:rPr lang="en-US" dirty="0"/>
              <a:t>                 </a:t>
            </a:r>
            <a:r>
              <a:rPr lang="en-IN" sz="4000" dirty="0"/>
              <a:t>System Architecture / Workflow</a:t>
            </a:r>
            <a:br>
              <a:rPr lang="en-US" dirty="0">
                <a:latin typeface="Times New Roman"/>
                <a:ea typeface="Times New Roman"/>
                <a:cs typeface="Times New Roman"/>
                <a:sym typeface="Times New Roman"/>
              </a:rPr>
            </a:br>
            <a:endParaRPr dirty="0">
              <a:latin typeface="Times New Roman"/>
              <a:ea typeface="Times New Roman"/>
              <a:cs typeface="Times New Roman"/>
              <a:sym typeface="Times New Roman"/>
            </a:endParaRPr>
          </a:p>
        </p:txBody>
      </p:sp>
      <p:sp>
        <p:nvSpPr>
          <p:cNvPr id="117" name="Google Shape;117;p16"/>
          <p:cNvSpPr txBox="1">
            <a:spLocks noGrp="1"/>
          </p:cNvSpPr>
          <p:nvPr>
            <p:ph type="body" idx="1"/>
          </p:nvPr>
        </p:nvSpPr>
        <p:spPr>
          <a:xfrm>
            <a:off x="352872" y="1054377"/>
            <a:ext cx="8229600" cy="4525963"/>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3200"/>
              <a:buNone/>
            </a:pPr>
            <a:r>
              <a:rPr lang="en-US">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pic>
        <p:nvPicPr>
          <p:cNvPr id="118" name="Google Shape;118;p16"/>
          <p:cNvPicPr preferRelativeResize="0"/>
          <p:nvPr/>
        </p:nvPicPr>
        <p:blipFill rotWithShape="1">
          <a:blip r:embed="rId3">
            <a:alphaModFix/>
          </a:blip>
          <a:srcRect/>
          <a:stretch/>
        </p:blipFill>
        <p:spPr>
          <a:xfrm>
            <a:off x="248544" y="264096"/>
            <a:ext cx="2237740" cy="755015"/>
          </a:xfrm>
          <a:prstGeom prst="rect">
            <a:avLst/>
          </a:prstGeom>
          <a:noFill/>
          <a:ln>
            <a:noFill/>
          </a:ln>
        </p:spPr>
      </p:pic>
      <p:sp>
        <p:nvSpPr>
          <p:cNvPr id="119" name="Google Shape;119;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sp>
        <p:nvSpPr>
          <p:cNvPr id="120" name="Google Shape;120;p16"/>
          <p:cNvSpPr txBox="1"/>
          <p:nvPr/>
        </p:nvSpPr>
        <p:spPr>
          <a:xfrm>
            <a:off x="665928" y="4894452"/>
            <a:ext cx="8125200" cy="1461898"/>
          </a:xfrm>
          <a:prstGeom prst="rect">
            <a:avLst/>
          </a:prstGeom>
          <a:noFill/>
          <a:ln>
            <a:noFill/>
          </a:ln>
        </p:spPr>
        <p:txBody>
          <a:bodyPr spcFirstLastPara="1" wrap="square" lIns="91425" tIns="45700" rIns="91425" bIns="45700" anchor="t" anchorCtr="0">
            <a:spAutoFit/>
          </a:bodyPr>
          <a:lstStyle/>
          <a:p>
            <a:r>
              <a:rPr lang="en-IN" sz="1500" b="1" dirty="0"/>
              <a:t>1. Input Image</a:t>
            </a:r>
          </a:p>
          <a:p>
            <a:pPr marL="0" indent="0">
              <a:buNone/>
            </a:pPr>
            <a:endParaRPr lang="en-IN" sz="1100" dirty="0"/>
          </a:p>
          <a:p>
            <a:pPr fontAlgn="base"/>
            <a:r>
              <a:rPr lang="en-IN" sz="1100" dirty="0"/>
              <a:t>A single or multi-digit grayscale image (MNIST-style 28x28 for single digits, larger for multi-digit images).</a:t>
            </a:r>
          </a:p>
          <a:p>
            <a:pPr fontAlgn="base"/>
            <a:endParaRPr lang="en-IN" sz="1100" dirty="0"/>
          </a:p>
          <a:p>
            <a:pPr fontAlgn="base"/>
            <a:endParaRPr lang="en-IN" sz="1100" dirty="0"/>
          </a:p>
          <a:p>
            <a:pPr marL="0" marR="0" lvl="0" indent="0" algn="just" rtl="0">
              <a:lnSpc>
                <a:spcPct val="100000"/>
              </a:lnSpc>
              <a:spcBef>
                <a:spcPts val="1200"/>
              </a:spcBef>
              <a:spcAft>
                <a:spcPts val="0"/>
              </a:spcAft>
              <a:buClr>
                <a:srgbClr val="000000"/>
              </a:buClr>
              <a:buSzPts val="2000"/>
              <a:buFont typeface="Arial"/>
              <a:buNone/>
            </a:pPr>
            <a:endParaRPr lang="en-IN" sz="2000" b="0" i="0" u="none" strike="noStrike" cap="none" dirty="0">
              <a:solidFill>
                <a:srgbClr val="000000"/>
              </a:solidFill>
              <a:latin typeface="Times New Roman"/>
              <a:ea typeface="Times New Roman"/>
              <a:cs typeface="Times New Roman"/>
              <a:sym typeface="Times New Roman"/>
            </a:endParaRPr>
          </a:p>
        </p:txBody>
      </p:sp>
      <p:pic>
        <p:nvPicPr>
          <p:cNvPr id="2" name="Picture 4">
            <a:extLst>
              <a:ext uri="{FF2B5EF4-FFF2-40B4-BE49-F238E27FC236}">
                <a16:creationId xmlns:a16="http://schemas.microsoft.com/office/drawing/2014/main" id="{462357C3-7331-F3A8-79C6-1A3454E5AC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8096" y="1237872"/>
            <a:ext cx="7393858" cy="330184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4261CCEA-53F7-A2E9-9C97-4B2B57FE8E56}"/>
            </a:ext>
          </a:extLst>
        </p:cNvPr>
        <p:cNvGrpSpPr/>
        <p:nvPr/>
      </p:nvGrpSpPr>
      <p:grpSpPr>
        <a:xfrm>
          <a:off x="0" y="0"/>
          <a:ext cx="0" cy="0"/>
          <a:chOff x="0" y="0"/>
          <a:chExt cx="0" cy="0"/>
        </a:xfrm>
      </p:grpSpPr>
      <p:sp>
        <p:nvSpPr>
          <p:cNvPr id="116" name="Google Shape;116;p16">
            <a:extLst>
              <a:ext uri="{FF2B5EF4-FFF2-40B4-BE49-F238E27FC236}">
                <a16:creationId xmlns:a16="http://schemas.microsoft.com/office/drawing/2014/main" id="{56DBA74D-D00A-887A-10DF-22BE7FF8DB88}"/>
              </a:ext>
            </a:extLst>
          </p:cNvPr>
          <p:cNvSpPr txBox="1">
            <a:spLocks noGrp="1"/>
          </p:cNvSpPr>
          <p:nvPr>
            <p:ph type="title"/>
          </p:nvPr>
        </p:nvSpPr>
        <p:spPr>
          <a:xfrm>
            <a:off x="457200" y="94872"/>
            <a:ext cx="8229600" cy="1143000"/>
          </a:xfrm>
          <a:prstGeom prst="rect">
            <a:avLst/>
          </a:prstGeom>
          <a:noFill/>
          <a:ln>
            <a:noFill/>
          </a:ln>
        </p:spPr>
        <p:txBody>
          <a:bodyPr spcFirstLastPara="1" wrap="square" lIns="91425" tIns="45700" rIns="91425" bIns="45700" anchor="ctr" anchorCtr="0">
            <a:normAutofit fontScale="90000"/>
          </a:bodyPr>
          <a:lstStyle/>
          <a:p>
            <a:pPr lvl="0">
              <a:buSzPct val="111000"/>
            </a:pPr>
            <a:r>
              <a:rPr lang="en-US" dirty="0"/>
              <a:t>      </a:t>
            </a:r>
            <a:br>
              <a:rPr lang="en-US" dirty="0"/>
            </a:br>
            <a:r>
              <a:rPr lang="en-US" dirty="0"/>
              <a:t>                 </a:t>
            </a:r>
            <a:r>
              <a:rPr lang="en-IN" sz="4000" dirty="0"/>
              <a:t>System Architecture / Workflow</a:t>
            </a:r>
            <a:br>
              <a:rPr lang="en-US" dirty="0">
                <a:latin typeface="Times New Roman"/>
                <a:ea typeface="Times New Roman"/>
                <a:cs typeface="Times New Roman"/>
                <a:sym typeface="Times New Roman"/>
              </a:rPr>
            </a:br>
            <a:endParaRPr dirty="0">
              <a:latin typeface="Times New Roman"/>
              <a:ea typeface="Times New Roman"/>
              <a:cs typeface="Times New Roman"/>
              <a:sym typeface="Times New Roman"/>
            </a:endParaRPr>
          </a:p>
        </p:txBody>
      </p:sp>
      <p:sp>
        <p:nvSpPr>
          <p:cNvPr id="117" name="Google Shape;117;p16">
            <a:extLst>
              <a:ext uri="{FF2B5EF4-FFF2-40B4-BE49-F238E27FC236}">
                <a16:creationId xmlns:a16="http://schemas.microsoft.com/office/drawing/2014/main" id="{39A41B39-B9A2-A031-1B90-2170AB3BC56B}"/>
              </a:ext>
            </a:extLst>
          </p:cNvPr>
          <p:cNvSpPr txBox="1">
            <a:spLocks noGrp="1"/>
          </p:cNvSpPr>
          <p:nvPr>
            <p:ph type="body" idx="1"/>
          </p:nvPr>
        </p:nvSpPr>
        <p:spPr>
          <a:xfrm>
            <a:off x="352872" y="1054377"/>
            <a:ext cx="8229600" cy="4525963"/>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3200"/>
              <a:buNone/>
            </a:pPr>
            <a:r>
              <a:rPr lang="en-US">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pic>
        <p:nvPicPr>
          <p:cNvPr id="118" name="Google Shape;118;p16">
            <a:extLst>
              <a:ext uri="{FF2B5EF4-FFF2-40B4-BE49-F238E27FC236}">
                <a16:creationId xmlns:a16="http://schemas.microsoft.com/office/drawing/2014/main" id="{F51F8531-794B-46FE-D3EE-1C28931D33DD}"/>
              </a:ext>
            </a:extLst>
          </p:cNvPr>
          <p:cNvPicPr preferRelativeResize="0"/>
          <p:nvPr/>
        </p:nvPicPr>
        <p:blipFill rotWithShape="1">
          <a:blip r:embed="rId3">
            <a:alphaModFix/>
          </a:blip>
          <a:srcRect/>
          <a:stretch/>
        </p:blipFill>
        <p:spPr>
          <a:xfrm>
            <a:off x="248544" y="264096"/>
            <a:ext cx="2237740" cy="755015"/>
          </a:xfrm>
          <a:prstGeom prst="rect">
            <a:avLst/>
          </a:prstGeom>
          <a:noFill/>
          <a:ln>
            <a:noFill/>
          </a:ln>
        </p:spPr>
      </p:pic>
      <p:sp>
        <p:nvSpPr>
          <p:cNvPr id="119" name="Google Shape;119;p16">
            <a:extLst>
              <a:ext uri="{FF2B5EF4-FFF2-40B4-BE49-F238E27FC236}">
                <a16:creationId xmlns:a16="http://schemas.microsoft.com/office/drawing/2014/main" id="{413ABB01-E053-1164-C756-03C641891FBD}"/>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a:t>
            </a:fld>
            <a:endParaRPr/>
          </a:p>
        </p:txBody>
      </p:sp>
      <p:sp>
        <p:nvSpPr>
          <p:cNvPr id="120" name="Google Shape;120;p16">
            <a:extLst>
              <a:ext uri="{FF2B5EF4-FFF2-40B4-BE49-F238E27FC236}">
                <a16:creationId xmlns:a16="http://schemas.microsoft.com/office/drawing/2014/main" id="{FF803276-7BB4-BFF9-38B2-E159DB17EFF7}"/>
              </a:ext>
            </a:extLst>
          </p:cNvPr>
          <p:cNvSpPr txBox="1"/>
          <p:nvPr/>
        </p:nvSpPr>
        <p:spPr>
          <a:xfrm>
            <a:off x="665928" y="1674902"/>
            <a:ext cx="8125200" cy="4293443"/>
          </a:xfrm>
          <a:prstGeom prst="rect">
            <a:avLst/>
          </a:prstGeom>
          <a:noFill/>
          <a:ln>
            <a:noFill/>
          </a:ln>
        </p:spPr>
        <p:txBody>
          <a:bodyPr spcFirstLastPara="1" wrap="square" lIns="91425" tIns="45700" rIns="91425" bIns="45700" anchor="t" anchorCtr="0">
            <a:spAutoFit/>
          </a:bodyPr>
          <a:lstStyle/>
          <a:p>
            <a:pPr marL="0" indent="0">
              <a:buNone/>
            </a:pPr>
            <a:r>
              <a:rPr lang="en-IN" b="1" dirty="0"/>
              <a:t>2. Preprocessing (for multi-digit images)</a:t>
            </a:r>
          </a:p>
          <a:p>
            <a:pPr marL="0" indent="0">
              <a:buNone/>
            </a:pPr>
            <a:endParaRPr lang="en-IN" sz="1100" dirty="0"/>
          </a:p>
          <a:p>
            <a:pPr marL="171450" indent="-171450" fontAlgn="base">
              <a:buFont typeface="Arial" panose="020B0604020202020204" pitchFamily="34" charset="0"/>
              <a:buChar char="•"/>
            </a:pPr>
            <a:r>
              <a:rPr lang="en-IN" sz="1100" dirty="0"/>
              <a:t>Convert to grayscale (if not already).</a:t>
            </a:r>
          </a:p>
          <a:p>
            <a:pPr marL="171450" indent="-171450" fontAlgn="base">
              <a:buFont typeface="Arial" panose="020B0604020202020204" pitchFamily="34" charset="0"/>
              <a:buChar char="•"/>
            </a:pPr>
            <a:r>
              <a:rPr lang="en-IN" sz="1100" dirty="0"/>
              <a:t>Apply Gaussian blur to reduce noise.</a:t>
            </a:r>
          </a:p>
          <a:p>
            <a:pPr marL="171450" indent="-171450" fontAlgn="base">
              <a:buFont typeface="Arial" panose="020B0604020202020204" pitchFamily="34" charset="0"/>
              <a:buChar char="•"/>
            </a:pPr>
            <a:r>
              <a:rPr lang="en-IN" sz="1100" dirty="0"/>
              <a:t>Thresholding (Binary Inversion + Otsu) to separate digits from background.</a:t>
            </a:r>
          </a:p>
          <a:p>
            <a:pPr marL="171450" indent="-171450" fontAlgn="base">
              <a:buFont typeface="Arial" panose="020B0604020202020204" pitchFamily="34" charset="0"/>
              <a:buChar char="•"/>
            </a:pPr>
            <a:r>
              <a:rPr lang="en-IN" sz="1100" dirty="0"/>
              <a:t>Detect contours → identify bounding boxes for individual digits.</a:t>
            </a:r>
          </a:p>
          <a:p>
            <a:pPr marL="171450" indent="-171450" fontAlgn="base">
              <a:buFont typeface="Arial" panose="020B0604020202020204" pitchFamily="34" charset="0"/>
              <a:buChar char="•"/>
            </a:pPr>
            <a:r>
              <a:rPr lang="en-IN" sz="1100" dirty="0"/>
              <a:t>Sort bounding boxes left-to-right for correct reading order.</a:t>
            </a:r>
            <a:br>
              <a:rPr lang="en-IN" sz="1100" dirty="0"/>
            </a:br>
            <a:endParaRPr lang="en-IN" sz="1100" dirty="0"/>
          </a:p>
          <a:p>
            <a:pPr marL="0" indent="0">
              <a:buNone/>
            </a:pPr>
            <a:r>
              <a:rPr lang="en-IN" b="1" dirty="0"/>
              <a:t>3. Digit ROI Preprocessing (for CNN input)</a:t>
            </a:r>
          </a:p>
          <a:p>
            <a:pPr marL="0" indent="0">
              <a:buNone/>
            </a:pPr>
            <a:endParaRPr lang="en-IN" sz="1100" dirty="0"/>
          </a:p>
          <a:p>
            <a:pPr marL="171450" indent="-171450" fontAlgn="base">
              <a:buFont typeface="Arial" panose="020B0604020202020204" pitchFamily="34" charset="0"/>
              <a:buChar char="•"/>
            </a:pPr>
            <a:r>
              <a:rPr lang="en-IN" sz="1100" dirty="0"/>
              <a:t>Crop each digit region.</a:t>
            </a:r>
          </a:p>
          <a:p>
            <a:pPr marL="171450" indent="-171450" fontAlgn="base">
              <a:buFont typeface="Arial" panose="020B0604020202020204" pitchFamily="34" charset="0"/>
              <a:buChar char="•"/>
            </a:pPr>
            <a:r>
              <a:rPr lang="en-IN" sz="1100" dirty="0"/>
              <a:t>Resize while preserving aspect ratio (to fit 20x20 inside 28x28).</a:t>
            </a:r>
          </a:p>
          <a:p>
            <a:pPr marL="171450" indent="-171450" fontAlgn="base">
              <a:buFont typeface="Arial" panose="020B0604020202020204" pitchFamily="34" charset="0"/>
              <a:buChar char="•"/>
            </a:pPr>
            <a:r>
              <a:rPr lang="en-IN" sz="1100" dirty="0" err="1"/>
              <a:t>Center</a:t>
            </a:r>
            <a:r>
              <a:rPr lang="en-IN" sz="1100" dirty="0"/>
              <a:t> digit in 28x28 black frame.</a:t>
            </a:r>
          </a:p>
          <a:p>
            <a:pPr marL="171450" indent="-171450" fontAlgn="base">
              <a:buFont typeface="Arial" panose="020B0604020202020204" pitchFamily="34" charset="0"/>
              <a:buChar char="•"/>
            </a:pPr>
            <a:r>
              <a:rPr lang="en-IN" sz="1100" dirty="0"/>
              <a:t>Apply </a:t>
            </a:r>
            <a:r>
              <a:rPr lang="en-IN" sz="1100" dirty="0" err="1"/>
              <a:t>center</a:t>
            </a:r>
            <a:r>
              <a:rPr lang="en-IN" sz="1100" dirty="0"/>
              <a:t>-of-mass shift for alignment.</a:t>
            </a:r>
          </a:p>
          <a:p>
            <a:pPr marL="171450" indent="-171450">
              <a:buFont typeface="Arial" panose="020B0604020202020204" pitchFamily="34" charset="0"/>
              <a:buChar char="•"/>
            </a:pPr>
            <a:r>
              <a:rPr lang="en-IN" sz="1100" dirty="0"/>
              <a:t>Normalize pixel values (0–1) and reshape to (1,28,28,1) for CNN.</a:t>
            </a:r>
          </a:p>
          <a:p>
            <a:pPr fontAlgn="base"/>
            <a:endParaRPr lang="en-IN" sz="1100" dirty="0"/>
          </a:p>
          <a:p>
            <a:pPr marL="0" indent="0">
              <a:buNone/>
            </a:pPr>
            <a:r>
              <a:rPr lang="en-US" b="1" dirty="0"/>
              <a:t>4. Feature Extraction with CNN</a:t>
            </a:r>
          </a:p>
          <a:p>
            <a:pPr marL="0" indent="0">
              <a:buNone/>
            </a:pPr>
            <a:endParaRPr lang="en-US" sz="1100" dirty="0"/>
          </a:p>
          <a:p>
            <a:pPr marL="171450" indent="-171450" fontAlgn="base">
              <a:buFont typeface="Arial" panose="020B0604020202020204" pitchFamily="34" charset="0"/>
              <a:buChar char="•"/>
            </a:pPr>
            <a:r>
              <a:rPr lang="en-US" sz="1100" dirty="0"/>
              <a:t>Feed preprocessed digit into a trained CNN:</a:t>
            </a:r>
          </a:p>
          <a:p>
            <a:pPr marL="171450" lvl="1" indent="-171450" fontAlgn="base">
              <a:buFont typeface="Arial" panose="020B0604020202020204" pitchFamily="34" charset="0"/>
              <a:buChar char="•"/>
            </a:pPr>
            <a:r>
              <a:rPr lang="en-US" sz="1100" dirty="0"/>
              <a:t>2 × Conv2D layers with </a:t>
            </a:r>
            <a:r>
              <a:rPr lang="en-US" sz="1100" dirty="0" err="1"/>
              <a:t>ReLU</a:t>
            </a:r>
            <a:r>
              <a:rPr lang="en-US" sz="1100" dirty="0"/>
              <a:t> activations</a:t>
            </a:r>
          </a:p>
          <a:p>
            <a:pPr marL="171450" lvl="1" indent="-171450" fontAlgn="base">
              <a:buFont typeface="Arial" panose="020B0604020202020204" pitchFamily="34" charset="0"/>
              <a:buChar char="•"/>
            </a:pPr>
            <a:r>
              <a:rPr lang="en-US" sz="1100" dirty="0"/>
              <a:t>2 × MaxPooling2D layers</a:t>
            </a:r>
          </a:p>
          <a:p>
            <a:pPr marL="171450" lvl="1" indent="-171450" fontAlgn="base">
              <a:buFont typeface="Arial" panose="020B0604020202020204" pitchFamily="34" charset="0"/>
              <a:buChar char="•"/>
            </a:pPr>
            <a:r>
              <a:rPr lang="en-US" sz="1100" dirty="0"/>
              <a:t>Flatten → Dense layer with 128 units</a:t>
            </a:r>
          </a:p>
          <a:p>
            <a:pPr marL="171450" indent="-171450" fontAlgn="base">
              <a:buFont typeface="Arial" panose="020B0604020202020204" pitchFamily="34" charset="0"/>
              <a:buChar char="•"/>
            </a:pPr>
            <a:r>
              <a:rPr lang="en-US" sz="1100" dirty="0"/>
              <a:t>Output: </a:t>
            </a:r>
            <a:r>
              <a:rPr lang="en-US" sz="1100" b="1" dirty="0"/>
              <a:t>128-dimensional feature vector</a:t>
            </a:r>
            <a:r>
              <a:rPr lang="en-US" sz="1100" dirty="0"/>
              <a:t> representing abstract digit features.</a:t>
            </a:r>
            <a:br>
              <a:rPr lang="en-US" sz="1100" dirty="0"/>
            </a:br>
            <a:endParaRPr lang="en-US" sz="1100" dirty="0"/>
          </a:p>
        </p:txBody>
      </p:sp>
    </p:spTree>
    <p:extLst>
      <p:ext uri="{BB962C8B-B14F-4D97-AF65-F5344CB8AC3E}">
        <p14:creationId xmlns:p14="http://schemas.microsoft.com/office/powerpoint/2010/main" val="16047817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E789E918-834F-E530-5749-8EB521E10656}"/>
            </a:ext>
          </a:extLst>
        </p:cNvPr>
        <p:cNvGrpSpPr/>
        <p:nvPr/>
      </p:nvGrpSpPr>
      <p:grpSpPr>
        <a:xfrm>
          <a:off x="0" y="0"/>
          <a:ext cx="0" cy="0"/>
          <a:chOff x="0" y="0"/>
          <a:chExt cx="0" cy="0"/>
        </a:xfrm>
      </p:grpSpPr>
      <p:sp>
        <p:nvSpPr>
          <p:cNvPr id="116" name="Google Shape;116;p16">
            <a:extLst>
              <a:ext uri="{FF2B5EF4-FFF2-40B4-BE49-F238E27FC236}">
                <a16:creationId xmlns:a16="http://schemas.microsoft.com/office/drawing/2014/main" id="{AA03931A-86C4-7F6C-F3EC-A0DAB5163A5D}"/>
              </a:ext>
            </a:extLst>
          </p:cNvPr>
          <p:cNvSpPr txBox="1">
            <a:spLocks noGrp="1"/>
          </p:cNvSpPr>
          <p:nvPr>
            <p:ph type="title"/>
          </p:nvPr>
        </p:nvSpPr>
        <p:spPr>
          <a:xfrm>
            <a:off x="457200" y="94872"/>
            <a:ext cx="8229600" cy="1143000"/>
          </a:xfrm>
          <a:prstGeom prst="rect">
            <a:avLst/>
          </a:prstGeom>
          <a:noFill/>
          <a:ln>
            <a:noFill/>
          </a:ln>
        </p:spPr>
        <p:txBody>
          <a:bodyPr spcFirstLastPara="1" wrap="square" lIns="91425" tIns="45700" rIns="91425" bIns="45700" anchor="ctr" anchorCtr="0">
            <a:normAutofit fontScale="90000"/>
          </a:bodyPr>
          <a:lstStyle/>
          <a:p>
            <a:pPr lvl="0">
              <a:buSzPct val="111000"/>
            </a:pPr>
            <a:r>
              <a:rPr lang="en-US" dirty="0"/>
              <a:t>      </a:t>
            </a:r>
            <a:br>
              <a:rPr lang="en-US" dirty="0"/>
            </a:br>
            <a:r>
              <a:rPr lang="en-US" dirty="0"/>
              <a:t>                 </a:t>
            </a:r>
            <a:r>
              <a:rPr lang="en-IN" sz="4000" dirty="0"/>
              <a:t>System Architecture / Workflow</a:t>
            </a:r>
            <a:br>
              <a:rPr lang="en-US" dirty="0">
                <a:latin typeface="Times New Roman"/>
                <a:ea typeface="Times New Roman"/>
                <a:cs typeface="Times New Roman"/>
                <a:sym typeface="Times New Roman"/>
              </a:rPr>
            </a:br>
            <a:endParaRPr dirty="0">
              <a:latin typeface="Times New Roman"/>
              <a:ea typeface="Times New Roman"/>
              <a:cs typeface="Times New Roman"/>
              <a:sym typeface="Times New Roman"/>
            </a:endParaRPr>
          </a:p>
        </p:txBody>
      </p:sp>
      <p:sp>
        <p:nvSpPr>
          <p:cNvPr id="117" name="Google Shape;117;p16">
            <a:extLst>
              <a:ext uri="{FF2B5EF4-FFF2-40B4-BE49-F238E27FC236}">
                <a16:creationId xmlns:a16="http://schemas.microsoft.com/office/drawing/2014/main" id="{8E50CAC4-204F-3704-23D7-BC3A04B4D4A6}"/>
              </a:ext>
            </a:extLst>
          </p:cNvPr>
          <p:cNvSpPr txBox="1">
            <a:spLocks noGrp="1"/>
          </p:cNvSpPr>
          <p:nvPr>
            <p:ph type="body" idx="1"/>
          </p:nvPr>
        </p:nvSpPr>
        <p:spPr>
          <a:xfrm>
            <a:off x="352872" y="1054377"/>
            <a:ext cx="8229600" cy="4525963"/>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3200"/>
              <a:buNone/>
            </a:pPr>
            <a:r>
              <a:rPr lang="en-US">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pic>
        <p:nvPicPr>
          <p:cNvPr id="118" name="Google Shape;118;p16">
            <a:extLst>
              <a:ext uri="{FF2B5EF4-FFF2-40B4-BE49-F238E27FC236}">
                <a16:creationId xmlns:a16="http://schemas.microsoft.com/office/drawing/2014/main" id="{AD8BD0FE-033E-5F3D-D28F-A776BB3B66DF}"/>
              </a:ext>
            </a:extLst>
          </p:cNvPr>
          <p:cNvPicPr preferRelativeResize="0"/>
          <p:nvPr/>
        </p:nvPicPr>
        <p:blipFill rotWithShape="1">
          <a:blip r:embed="rId3">
            <a:alphaModFix/>
          </a:blip>
          <a:srcRect/>
          <a:stretch/>
        </p:blipFill>
        <p:spPr>
          <a:xfrm>
            <a:off x="248544" y="264096"/>
            <a:ext cx="2237740" cy="755015"/>
          </a:xfrm>
          <a:prstGeom prst="rect">
            <a:avLst/>
          </a:prstGeom>
          <a:noFill/>
          <a:ln>
            <a:noFill/>
          </a:ln>
        </p:spPr>
      </p:pic>
      <p:sp>
        <p:nvSpPr>
          <p:cNvPr id="119" name="Google Shape;119;p16">
            <a:extLst>
              <a:ext uri="{FF2B5EF4-FFF2-40B4-BE49-F238E27FC236}">
                <a16:creationId xmlns:a16="http://schemas.microsoft.com/office/drawing/2014/main" id="{2CF87398-4E74-0797-884A-8CD2A5D7360E}"/>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a:t>
            </a:fld>
            <a:endParaRPr/>
          </a:p>
        </p:txBody>
      </p:sp>
      <p:sp>
        <p:nvSpPr>
          <p:cNvPr id="120" name="Google Shape;120;p16">
            <a:extLst>
              <a:ext uri="{FF2B5EF4-FFF2-40B4-BE49-F238E27FC236}">
                <a16:creationId xmlns:a16="http://schemas.microsoft.com/office/drawing/2014/main" id="{621688E2-968F-0BCE-14BB-6AE2983DD71F}"/>
              </a:ext>
            </a:extLst>
          </p:cNvPr>
          <p:cNvSpPr txBox="1"/>
          <p:nvPr/>
        </p:nvSpPr>
        <p:spPr>
          <a:xfrm>
            <a:off x="665928" y="1674902"/>
            <a:ext cx="8125200" cy="4170332"/>
          </a:xfrm>
          <a:prstGeom prst="rect">
            <a:avLst/>
          </a:prstGeom>
          <a:noFill/>
          <a:ln>
            <a:noFill/>
          </a:ln>
        </p:spPr>
        <p:txBody>
          <a:bodyPr spcFirstLastPara="1" wrap="square" lIns="91425" tIns="45700" rIns="91425" bIns="45700" anchor="t" anchorCtr="0">
            <a:spAutoFit/>
          </a:bodyPr>
          <a:lstStyle/>
          <a:p>
            <a:pPr marL="0" indent="0">
              <a:buNone/>
            </a:pPr>
            <a:r>
              <a:rPr lang="en-US" b="1" dirty="0"/>
              <a:t>5. Dimensionality Reduction with PCA</a:t>
            </a:r>
          </a:p>
          <a:p>
            <a:pPr marL="0" indent="0">
              <a:buNone/>
            </a:pPr>
            <a:endParaRPr lang="en-US" sz="1100" dirty="0"/>
          </a:p>
          <a:p>
            <a:pPr marL="171450" indent="-171450" fontAlgn="base">
              <a:buFont typeface="Arial" panose="020B0604020202020204" pitchFamily="34" charset="0"/>
              <a:buChar char="•"/>
            </a:pPr>
            <a:r>
              <a:rPr lang="en-US" sz="1100" dirty="0"/>
              <a:t>Apply PCA on the 128-dim vector to reduce to </a:t>
            </a:r>
            <a:r>
              <a:rPr lang="en-US" sz="1100" b="1" dirty="0"/>
              <a:t>50 principal components</a:t>
            </a:r>
            <a:r>
              <a:rPr lang="en-US" sz="1100" dirty="0"/>
              <a:t>.</a:t>
            </a:r>
          </a:p>
          <a:p>
            <a:pPr marL="171450" indent="-171450">
              <a:buFont typeface="Arial" panose="020B0604020202020204" pitchFamily="34" charset="0"/>
              <a:buChar char="•"/>
            </a:pPr>
            <a:r>
              <a:rPr lang="en-US" sz="1100" dirty="0"/>
              <a:t>Benefits: Keeps the most important features and speeds up classification.</a:t>
            </a:r>
          </a:p>
          <a:p>
            <a:endParaRPr lang="en-US" sz="1100" dirty="0"/>
          </a:p>
          <a:p>
            <a:r>
              <a:rPr lang="en-US" b="1" dirty="0"/>
              <a:t>6. Classification with SVM</a:t>
            </a:r>
          </a:p>
          <a:p>
            <a:pPr marL="0" indent="0">
              <a:buNone/>
            </a:pPr>
            <a:endParaRPr lang="en-US" sz="1100" dirty="0"/>
          </a:p>
          <a:p>
            <a:pPr marL="171450" indent="-171450" fontAlgn="base">
              <a:buFont typeface="Arial" panose="020B0604020202020204" pitchFamily="34" charset="0"/>
              <a:buChar char="•"/>
            </a:pPr>
            <a:r>
              <a:rPr lang="en-US" sz="1100" dirty="0"/>
              <a:t>Feed the 50-dim PCA vector into a trained SVM classifier (RBF kernel, tuned C &amp; gamma).</a:t>
            </a:r>
          </a:p>
          <a:p>
            <a:pPr marL="171450" indent="-171450" fontAlgn="base">
              <a:buFont typeface="Arial" panose="020B0604020202020204" pitchFamily="34" charset="0"/>
              <a:buChar char="•"/>
            </a:pPr>
            <a:r>
              <a:rPr lang="en-US" sz="1100" dirty="0"/>
              <a:t>SVM predicts the digit class (0–9).</a:t>
            </a:r>
          </a:p>
          <a:p>
            <a:pPr marL="0" indent="0" fontAlgn="base">
              <a:buNone/>
            </a:pPr>
            <a:endParaRPr lang="en-US" sz="1100" dirty="0"/>
          </a:p>
          <a:p>
            <a:r>
              <a:rPr lang="en-US" b="1" dirty="0"/>
              <a:t>7. Postprocessing and Output</a:t>
            </a:r>
          </a:p>
          <a:p>
            <a:pPr marL="0" indent="0">
              <a:buNone/>
            </a:pPr>
            <a:endParaRPr lang="en-US" sz="1100" dirty="0"/>
          </a:p>
          <a:p>
            <a:pPr marL="171450" indent="-171450" fontAlgn="base">
              <a:buFont typeface="Arial" panose="020B0604020202020204" pitchFamily="34" charset="0"/>
              <a:buChar char="•"/>
            </a:pPr>
            <a:r>
              <a:rPr lang="en-US" sz="1100" dirty="0"/>
              <a:t>Store results for each detected digit:</a:t>
            </a:r>
          </a:p>
          <a:p>
            <a:pPr marL="171450" lvl="1" indent="-171450" fontAlgn="base">
              <a:buFont typeface="Arial" panose="020B0604020202020204" pitchFamily="34" charset="0"/>
              <a:buChar char="•"/>
            </a:pPr>
            <a:r>
              <a:rPr lang="en-US" sz="1100" dirty="0"/>
              <a:t>Bounding box coordinates</a:t>
            </a:r>
          </a:p>
          <a:p>
            <a:pPr marL="171450" lvl="1" indent="-171450" fontAlgn="base">
              <a:buFont typeface="Arial" panose="020B0604020202020204" pitchFamily="34" charset="0"/>
              <a:buChar char="•"/>
            </a:pPr>
            <a:r>
              <a:rPr lang="en-US" sz="1100" dirty="0"/>
              <a:t>Predicted digit</a:t>
            </a:r>
          </a:p>
          <a:p>
            <a:pPr marL="171450" lvl="1" indent="-171450" fontAlgn="base">
              <a:buFont typeface="Arial" panose="020B0604020202020204" pitchFamily="34" charset="0"/>
              <a:buChar char="•"/>
            </a:pPr>
            <a:r>
              <a:rPr lang="en-US" sz="1100" dirty="0"/>
              <a:t>Confidence score</a:t>
            </a:r>
          </a:p>
          <a:p>
            <a:pPr marL="171450" indent="-171450" fontAlgn="base">
              <a:buFont typeface="Arial" panose="020B0604020202020204" pitchFamily="34" charset="0"/>
              <a:buChar char="•"/>
            </a:pPr>
            <a:r>
              <a:rPr lang="en-US" sz="1100" dirty="0"/>
              <a:t>Draw bounding boxes and predictions on the image.</a:t>
            </a:r>
          </a:p>
          <a:p>
            <a:pPr marL="171450" indent="-171450" fontAlgn="base">
              <a:buFont typeface="Arial" panose="020B0604020202020204" pitchFamily="34" charset="0"/>
              <a:buChar char="•"/>
            </a:pPr>
            <a:r>
              <a:rPr lang="en-US" sz="1100" dirty="0"/>
              <a:t>Show or save annotated image.</a:t>
            </a:r>
          </a:p>
          <a:p>
            <a:pPr fontAlgn="base"/>
            <a:endParaRPr lang="en-US" sz="1100" dirty="0"/>
          </a:p>
          <a:p>
            <a:r>
              <a:rPr lang="en-US" b="1" dirty="0"/>
              <a:t>8. Final Output</a:t>
            </a:r>
          </a:p>
          <a:p>
            <a:pPr marL="0" indent="0">
              <a:buNone/>
            </a:pPr>
            <a:endParaRPr lang="en-US" sz="1100" dirty="0"/>
          </a:p>
          <a:p>
            <a:pPr marL="171450" indent="-171450" fontAlgn="base">
              <a:buFont typeface="Arial" panose="020B0604020202020204" pitchFamily="34" charset="0"/>
              <a:buChar char="•"/>
            </a:pPr>
            <a:r>
              <a:rPr lang="en-US" sz="1100" dirty="0"/>
              <a:t>Predicted digit(s) with confidence score.</a:t>
            </a:r>
          </a:p>
          <a:p>
            <a:pPr marL="171450" indent="-171450">
              <a:buFont typeface="Arial" panose="020B0604020202020204" pitchFamily="34" charset="0"/>
              <a:buChar char="•"/>
            </a:pPr>
            <a:r>
              <a:rPr lang="en-US" sz="1100" dirty="0"/>
              <a:t>Annotated image visualization showing detected digits.</a:t>
            </a:r>
          </a:p>
        </p:txBody>
      </p:sp>
    </p:spTree>
    <p:extLst>
      <p:ext uri="{BB962C8B-B14F-4D97-AF65-F5344CB8AC3E}">
        <p14:creationId xmlns:p14="http://schemas.microsoft.com/office/powerpoint/2010/main" val="17918629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DED3FB90-8479-ABD9-A8F6-529154F1CD2C}"/>
            </a:ext>
          </a:extLst>
        </p:cNvPr>
        <p:cNvGrpSpPr/>
        <p:nvPr/>
      </p:nvGrpSpPr>
      <p:grpSpPr>
        <a:xfrm>
          <a:off x="0" y="0"/>
          <a:ext cx="0" cy="0"/>
          <a:chOff x="0" y="0"/>
          <a:chExt cx="0" cy="0"/>
        </a:xfrm>
      </p:grpSpPr>
      <p:sp>
        <p:nvSpPr>
          <p:cNvPr id="116" name="Google Shape;116;p16">
            <a:extLst>
              <a:ext uri="{FF2B5EF4-FFF2-40B4-BE49-F238E27FC236}">
                <a16:creationId xmlns:a16="http://schemas.microsoft.com/office/drawing/2014/main" id="{79D74503-E1E3-4CFE-CCA3-3B4C5A6679DC}"/>
              </a:ext>
            </a:extLst>
          </p:cNvPr>
          <p:cNvSpPr txBox="1">
            <a:spLocks noGrp="1"/>
          </p:cNvSpPr>
          <p:nvPr>
            <p:ph type="title"/>
          </p:nvPr>
        </p:nvSpPr>
        <p:spPr>
          <a:xfrm>
            <a:off x="457200" y="94872"/>
            <a:ext cx="8229600" cy="1143000"/>
          </a:xfrm>
          <a:prstGeom prst="rect">
            <a:avLst/>
          </a:prstGeom>
          <a:noFill/>
          <a:ln>
            <a:noFill/>
          </a:ln>
        </p:spPr>
        <p:txBody>
          <a:bodyPr spcFirstLastPara="1" wrap="square" lIns="91425" tIns="45700" rIns="91425" bIns="45700" anchor="ctr" anchorCtr="0">
            <a:normAutofit fontScale="90000"/>
          </a:bodyPr>
          <a:lstStyle/>
          <a:p>
            <a:pPr lvl="0">
              <a:buSzPct val="111000"/>
            </a:pPr>
            <a:r>
              <a:rPr lang="en-US" dirty="0"/>
              <a:t>      </a:t>
            </a:r>
            <a:br>
              <a:rPr lang="en-US" dirty="0"/>
            </a:br>
            <a:r>
              <a:rPr lang="en-US" dirty="0"/>
              <a:t>                 </a:t>
            </a:r>
            <a:r>
              <a:rPr lang="en-IN" sz="4000" dirty="0"/>
              <a:t>System Architecture / Workflow</a:t>
            </a:r>
            <a:br>
              <a:rPr lang="en-US" dirty="0">
                <a:latin typeface="Times New Roman"/>
                <a:ea typeface="Times New Roman"/>
                <a:cs typeface="Times New Roman"/>
                <a:sym typeface="Times New Roman"/>
              </a:rPr>
            </a:br>
            <a:endParaRPr dirty="0">
              <a:latin typeface="Times New Roman"/>
              <a:ea typeface="Times New Roman"/>
              <a:cs typeface="Times New Roman"/>
              <a:sym typeface="Times New Roman"/>
            </a:endParaRPr>
          </a:p>
        </p:txBody>
      </p:sp>
      <p:sp>
        <p:nvSpPr>
          <p:cNvPr id="117" name="Google Shape;117;p16">
            <a:extLst>
              <a:ext uri="{FF2B5EF4-FFF2-40B4-BE49-F238E27FC236}">
                <a16:creationId xmlns:a16="http://schemas.microsoft.com/office/drawing/2014/main" id="{4DEABCE2-C83B-14CA-32F9-468557BC263B}"/>
              </a:ext>
            </a:extLst>
          </p:cNvPr>
          <p:cNvSpPr txBox="1">
            <a:spLocks noGrp="1"/>
          </p:cNvSpPr>
          <p:nvPr>
            <p:ph type="body" idx="1"/>
          </p:nvPr>
        </p:nvSpPr>
        <p:spPr>
          <a:xfrm>
            <a:off x="352872" y="1054377"/>
            <a:ext cx="8229600" cy="4525963"/>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3200"/>
              <a:buNone/>
            </a:pPr>
            <a:r>
              <a:rPr lang="en-US">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pic>
        <p:nvPicPr>
          <p:cNvPr id="118" name="Google Shape;118;p16">
            <a:extLst>
              <a:ext uri="{FF2B5EF4-FFF2-40B4-BE49-F238E27FC236}">
                <a16:creationId xmlns:a16="http://schemas.microsoft.com/office/drawing/2014/main" id="{EF797626-C1BA-179F-0AAB-CA98DF4F1FBC}"/>
              </a:ext>
            </a:extLst>
          </p:cNvPr>
          <p:cNvPicPr preferRelativeResize="0"/>
          <p:nvPr/>
        </p:nvPicPr>
        <p:blipFill rotWithShape="1">
          <a:blip r:embed="rId3">
            <a:alphaModFix/>
          </a:blip>
          <a:srcRect/>
          <a:stretch/>
        </p:blipFill>
        <p:spPr>
          <a:xfrm>
            <a:off x="248544" y="264096"/>
            <a:ext cx="2237740" cy="755015"/>
          </a:xfrm>
          <a:prstGeom prst="rect">
            <a:avLst/>
          </a:prstGeom>
          <a:noFill/>
          <a:ln>
            <a:noFill/>
          </a:ln>
        </p:spPr>
      </p:pic>
      <p:sp>
        <p:nvSpPr>
          <p:cNvPr id="119" name="Google Shape;119;p16">
            <a:extLst>
              <a:ext uri="{FF2B5EF4-FFF2-40B4-BE49-F238E27FC236}">
                <a16:creationId xmlns:a16="http://schemas.microsoft.com/office/drawing/2014/main" id="{407512C9-81D1-4C8A-3628-B323C5E7AE49}"/>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a:t>
            </a:fld>
            <a:endParaRPr/>
          </a:p>
        </p:txBody>
      </p:sp>
      <p:sp>
        <p:nvSpPr>
          <p:cNvPr id="120" name="Google Shape;120;p16">
            <a:extLst>
              <a:ext uri="{FF2B5EF4-FFF2-40B4-BE49-F238E27FC236}">
                <a16:creationId xmlns:a16="http://schemas.microsoft.com/office/drawing/2014/main" id="{8FCB7399-86E1-12D8-7515-EDCF2A054019}"/>
              </a:ext>
            </a:extLst>
          </p:cNvPr>
          <p:cNvSpPr txBox="1"/>
          <p:nvPr/>
        </p:nvSpPr>
        <p:spPr>
          <a:xfrm>
            <a:off x="665928" y="3836573"/>
            <a:ext cx="8125200" cy="3093114"/>
          </a:xfrm>
          <a:prstGeom prst="rect">
            <a:avLst/>
          </a:prstGeom>
          <a:noFill/>
          <a:ln>
            <a:noFill/>
          </a:ln>
        </p:spPr>
        <p:txBody>
          <a:bodyPr spcFirstLastPara="1" wrap="square" lIns="91425" tIns="45700" rIns="91425" bIns="45700" anchor="t" anchorCtr="0">
            <a:spAutoFit/>
          </a:bodyPr>
          <a:lstStyle/>
          <a:p>
            <a:r>
              <a:rPr lang="en-US" sz="1100" dirty="0"/>
              <a:t>This model (your second image) represents a more </a:t>
            </a:r>
            <a:r>
              <a:rPr lang="en-US" sz="1100" b="1" dirty="0"/>
              <a:t>traditional or "classical" machine learning workflow</a:t>
            </a:r>
            <a:r>
              <a:rPr lang="en-US" sz="1100" dirty="0"/>
              <a:t>. It does </a:t>
            </a:r>
            <a:r>
              <a:rPr lang="en-US" sz="1100" i="1" dirty="0"/>
              <a:t>not</a:t>
            </a:r>
            <a:r>
              <a:rPr lang="en-US" sz="1100" dirty="0"/>
              <a:t> use a neural network.</a:t>
            </a:r>
            <a:endParaRPr lang="en-IN" sz="1100" dirty="0"/>
          </a:p>
          <a:p>
            <a:pPr fontAlgn="base"/>
            <a:endParaRPr lang="en-IN" sz="1100" dirty="0"/>
          </a:p>
          <a:p>
            <a:pPr fontAlgn="base"/>
            <a:r>
              <a:rPr lang="en-US" sz="1100" b="1" dirty="0"/>
              <a:t>Feature Extractor:</a:t>
            </a:r>
            <a:r>
              <a:rPr lang="en-US" sz="1100" dirty="0"/>
              <a:t> It relies on </a:t>
            </a:r>
            <a:r>
              <a:rPr lang="en-US" sz="1100" b="1" dirty="0"/>
              <a:t>preprocessing and PCA</a:t>
            </a:r>
            <a:r>
              <a:rPr lang="en-US" sz="1100" dirty="0"/>
              <a:t> </a:t>
            </a:r>
            <a:r>
              <a:rPr lang="en-US" sz="1100" i="1" dirty="0"/>
              <a:t>directly on the raw pixel data</a:t>
            </a:r>
            <a:r>
              <a:rPr lang="en-US" sz="1100" dirty="0"/>
              <a:t>.</a:t>
            </a:r>
          </a:p>
          <a:p>
            <a:pPr marL="171450" lvl="1" indent="-171450" fontAlgn="base">
              <a:buFont typeface="Arial" panose="020B0604020202020204" pitchFamily="34" charset="0"/>
              <a:buChar char="•"/>
            </a:pPr>
            <a:r>
              <a:rPr lang="en-US" sz="1100" dirty="0"/>
              <a:t>The Preprocessing step (thresholding, cropping, etc.) cleans the image.</a:t>
            </a:r>
          </a:p>
          <a:p>
            <a:pPr marL="171450" lvl="1" indent="-171450" fontAlgn="base">
              <a:buFont typeface="Arial" panose="020B0604020202020204" pitchFamily="34" charset="0"/>
              <a:buChar char="•"/>
            </a:pPr>
            <a:r>
              <a:rPr lang="en-US" sz="1100" dirty="0"/>
              <a:t>The PCA Reduction step is then applied to the (likely flattened) image pixels. Its job is to find the "principal components" or main patterns </a:t>
            </a:r>
            <a:r>
              <a:rPr lang="en-US" sz="1100" i="1" dirty="0"/>
              <a:t>in the pixel data itself</a:t>
            </a:r>
            <a:r>
              <a:rPr lang="en-US" sz="1100" dirty="0"/>
              <a:t>.</a:t>
            </a:r>
          </a:p>
          <a:p>
            <a:pPr lvl="1" fontAlgn="base"/>
            <a:endParaRPr lang="en-US" sz="1100" dirty="0"/>
          </a:p>
          <a:p>
            <a:pPr fontAlgn="base"/>
            <a:r>
              <a:rPr lang="en-US" sz="1100" b="1" dirty="0"/>
              <a:t>Output of PCA:</a:t>
            </a:r>
            <a:r>
              <a:rPr lang="en-US" sz="1100" dirty="0"/>
              <a:t> The output is a set of feature vectors based on pixel variance, not on learned hierarchical patterns (like the CNN does).</a:t>
            </a:r>
          </a:p>
          <a:p>
            <a:pPr fontAlgn="base"/>
            <a:endParaRPr lang="en-US" sz="1100" dirty="0"/>
          </a:p>
          <a:p>
            <a:pPr fontAlgn="base"/>
            <a:r>
              <a:rPr lang="en-US" sz="1100" b="1" dirty="0"/>
              <a:t>Final Step:</a:t>
            </a:r>
            <a:endParaRPr lang="en-US" sz="1100" dirty="0"/>
          </a:p>
          <a:p>
            <a:pPr marL="171450" indent="-171450">
              <a:buFont typeface="Arial" panose="020B0604020202020204" pitchFamily="34" charset="0"/>
              <a:buChar char="•"/>
            </a:pPr>
            <a:r>
              <a:rPr lang="en-US" sz="1100" b="1" dirty="0"/>
              <a:t>SVM Training:</a:t>
            </a:r>
            <a:r>
              <a:rPr lang="en-US" sz="1100" dirty="0"/>
              <a:t> The SVM is trained directly on these PCA-generated features. The </a:t>
            </a:r>
            <a:r>
              <a:rPr lang="en-US" sz="1100" dirty="0" err="1"/>
              <a:t>GridSearchCV</a:t>
            </a:r>
            <a:r>
              <a:rPr lang="en-US" sz="1100" dirty="0"/>
              <a:t> block indicates it's also testing many different SVM settings to find the best ones.</a:t>
            </a:r>
            <a:endParaRPr lang="en-IN" sz="1100" dirty="0"/>
          </a:p>
          <a:p>
            <a:pPr fontAlgn="base"/>
            <a:endParaRPr lang="en-IN" sz="1100" dirty="0"/>
          </a:p>
          <a:p>
            <a:pPr marL="0" marR="0" lvl="0" indent="0" algn="just" rtl="0">
              <a:lnSpc>
                <a:spcPct val="100000"/>
              </a:lnSpc>
              <a:spcBef>
                <a:spcPts val="1200"/>
              </a:spcBef>
              <a:spcAft>
                <a:spcPts val="0"/>
              </a:spcAft>
              <a:buClr>
                <a:srgbClr val="000000"/>
              </a:buClr>
              <a:buSzPts val="2000"/>
              <a:buFont typeface="Arial"/>
              <a:buNone/>
            </a:pPr>
            <a:endParaRPr lang="en-IN" sz="2000" b="0" i="0" u="none" strike="noStrike" cap="none" dirty="0">
              <a:solidFill>
                <a:srgbClr val="000000"/>
              </a:solidFill>
              <a:latin typeface="Times New Roman"/>
              <a:ea typeface="Times New Roman"/>
              <a:cs typeface="Times New Roman"/>
              <a:sym typeface="Times New Roman"/>
            </a:endParaRPr>
          </a:p>
        </p:txBody>
      </p:sp>
      <p:pic>
        <p:nvPicPr>
          <p:cNvPr id="1026" name="Picture 2">
            <a:extLst>
              <a:ext uri="{FF2B5EF4-FFF2-40B4-BE49-F238E27FC236}">
                <a16:creationId xmlns:a16="http://schemas.microsoft.com/office/drawing/2014/main" id="{8949C023-596A-8A35-3F41-5E8503678D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4670" y="1266672"/>
            <a:ext cx="7167716" cy="21424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54928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7"/>
          <p:cNvSpPr txBox="1">
            <a:spLocks noGrp="1"/>
          </p:cNvSpPr>
          <p:nvPr>
            <p:ph type="title"/>
          </p:nvPr>
        </p:nvSpPr>
        <p:spPr>
          <a:xfrm>
            <a:off x="465083" y="187932"/>
            <a:ext cx="8229600" cy="1143000"/>
          </a:xfrm>
          <a:prstGeom prst="rect">
            <a:avLst/>
          </a:prstGeom>
          <a:noFill/>
          <a:ln>
            <a:noFill/>
          </a:ln>
        </p:spPr>
        <p:txBody>
          <a:bodyPr spcFirstLastPara="1" wrap="square" lIns="91425" tIns="45700" rIns="91425" bIns="45700" anchor="ctr" anchorCtr="0">
            <a:normAutofit fontScale="90000"/>
          </a:bodyPr>
          <a:lstStyle/>
          <a:p>
            <a:pPr lvl="0">
              <a:buSzPct val="111000"/>
            </a:pPr>
            <a:r>
              <a:rPr lang="en-US" dirty="0"/>
              <a:t>      </a:t>
            </a:r>
            <a:br>
              <a:rPr lang="en-US" dirty="0"/>
            </a:br>
            <a:r>
              <a:rPr lang="en-US" dirty="0"/>
              <a:t>                </a:t>
            </a:r>
            <a:r>
              <a:rPr lang="en-IN" sz="4000" dirty="0"/>
              <a:t>Algorithm / Model Summary</a:t>
            </a:r>
            <a:endParaRPr sz="4000" dirty="0">
              <a:latin typeface="Times New Roman"/>
              <a:ea typeface="Times New Roman"/>
              <a:cs typeface="Times New Roman"/>
              <a:sym typeface="Times New Roman"/>
            </a:endParaRPr>
          </a:p>
        </p:txBody>
      </p:sp>
      <p:sp>
        <p:nvSpPr>
          <p:cNvPr id="126" name="Google Shape;126;p17"/>
          <p:cNvSpPr txBox="1">
            <a:spLocks noGrp="1"/>
          </p:cNvSpPr>
          <p:nvPr>
            <p:ph type="body" idx="1"/>
          </p:nvPr>
        </p:nvSpPr>
        <p:spPr>
          <a:xfrm>
            <a:off x="457200" y="1569377"/>
            <a:ext cx="8229600" cy="4525963"/>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3200"/>
              <a:buNone/>
            </a:pPr>
            <a:r>
              <a:rPr lang="en-US">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pic>
        <p:nvPicPr>
          <p:cNvPr id="127" name="Google Shape;127;p17"/>
          <p:cNvPicPr preferRelativeResize="0"/>
          <p:nvPr/>
        </p:nvPicPr>
        <p:blipFill rotWithShape="1">
          <a:blip r:embed="rId3">
            <a:alphaModFix/>
          </a:blip>
          <a:srcRect/>
          <a:stretch/>
        </p:blipFill>
        <p:spPr>
          <a:xfrm>
            <a:off x="228600" y="553353"/>
            <a:ext cx="2237740" cy="755015"/>
          </a:xfrm>
          <a:prstGeom prst="rect">
            <a:avLst/>
          </a:prstGeom>
          <a:noFill/>
          <a:ln>
            <a:noFill/>
          </a:ln>
        </p:spPr>
      </p:pic>
      <p:sp>
        <p:nvSpPr>
          <p:cNvPr id="128" name="Google Shape;128;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a:t>
            </a:fld>
            <a:endParaRPr/>
          </a:p>
        </p:txBody>
      </p:sp>
      <p:sp>
        <p:nvSpPr>
          <p:cNvPr id="129" name="Google Shape;129;p17"/>
          <p:cNvSpPr txBox="1"/>
          <p:nvPr/>
        </p:nvSpPr>
        <p:spPr>
          <a:xfrm>
            <a:off x="457200" y="1305306"/>
            <a:ext cx="8521200" cy="4749721"/>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1200"/>
              </a:spcBef>
              <a:spcAft>
                <a:spcPts val="0"/>
              </a:spcAft>
              <a:buClr>
                <a:schemeClr val="dk1"/>
              </a:buClr>
              <a:buSzPts val="1100"/>
              <a:buFont typeface="Arial"/>
              <a:buNone/>
            </a:pPr>
            <a:endParaRPr sz="1100" dirty="0">
              <a:solidFill>
                <a:schemeClr val="dk1"/>
              </a:solidFill>
            </a:endParaRPr>
          </a:p>
          <a:p>
            <a:r>
              <a:rPr lang="en-US" b="1" dirty="0"/>
              <a:t>Component 1: Convolutional Neural Network (CNN)</a:t>
            </a:r>
          </a:p>
          <a:p>
            <a:endParaRPr lang="en-US" b="1" dirty="0"/>
          </a:p>
          <a:p>
            <a:pPr marL="171450" indent="-171450" fontAlgn="base">
              <a:buFont typeface="Arial" panose="020B0604020202020204" pitchFamily="34" charset="0"/>
              <a:buChar char="•"/>
            </a:pPr>
            <a:r>
              <a:rPr lang="en-US" sz="1100" b="1" dirty="0"/>
              <a:t>Role:</a:t>
            </a:r>
            <a:r>
              <a:rPr lang="en-US" sz="1100" dirty="0"/>
              <a:t> Acts as a powerful, non-linear feature extractor.</a:t>
            </a:r>
          </a:p>
          <a:p>
            <a:pPr marL="171450" indent="-171450" fontAlgn="base">
              <a:buFont typeface="Arial" panose="020B0604020202020204" pitchFamily="34" charset="0"/>
              <a:buChar char="•"/>
            </a:pPr>
            <a:r>
              <a:rPr lang="en-US" sz="1100" b="1" dirty="0"/>
              <a:t>Core Idea:</a:t>
            </a:r>
            <a:r>
              <a:rPr lang="en-US" sz="1100" dirty="0"/>
              <a:t> The CNN is trained on the raw 28x28 pixel images. Its internal layers learn to identify complex patterns, and its final dense layer outputs a high-level 128-dimensional feature representation.</a:t>
            </a:r>
          </a:p>
          <a:p>
            <a:pPr fontAlgn="base"/>
            <a:endParaRPr lang="en-US" sz="1100" dirty="0"/>
          </a:p>
          <a:p>
            <a:r>
              <a:rPr lang="en-US" b="1" dirty="0"/>
              <a:t>Component 2: Principal Component Analysis (PCA)</a:t>
            </a:r>
          </a:p>
          <a:p>
            <a:endParaRPr lang="en-US" b="1" dirty="0"/>
          </a:p>
          <a:p>
            <a:pPr marL="171450" indent="-171450" fontAlgn="base">
              <a:buFont typeface="Arial" panose="020B0604020202020204" pitchFamily="34" charset="0"/>
              <a:buChar char="•"/>
            </a:pPr>
            <a:r>
              <a:rPr lang="en-US" sz="1100" b="1" dirty="0"/>
              <a:t>Role:</a:t>
            </a:r>
            <a:r>
              <a:rPr lang="en-US" sz="1100" dirty="0"/>
              <a:t> Acts as an efficient dimensionality reducer.</a:t>
            </a:r>
          </a:p>
          <a:p>
            <a:pPr marL="171450" indent="-171450" fontAlgn="base">
              <a:buFont typeface="Arial" panose="020B0604020202020204" pitchFamily="34" charset="0"/>
              <a:buChar char="•"/>
            </a:pPr>
            <a:r>
              <a:rPr lang="en-US" sz="1100" b="1" dirty="0"/>
              <a:t>Core Idea:</a:t>
            </a:r>
            <a:r>
              <a:rPr lang="en-US" sz="1100" dirty="0"/>
              <a:t> It takes the 128-dim vector from the CNN and reduces it to 50 dimensions. This makes the SVM training process much faster and more memory-efficient by retaining only the components with the highest variance.</a:t>
            </a:r>
          </a:p>
          <a:p>
            <a:pPr fontAlgn="base"/>
            <a:endParaRPr lang="en-US" sz="1100" dirty="0"/>
          </a:p>
          <a:p>
            <a:r>
              <a:rPr lang="en-US" b="1" dirty="0"/>
              <a:t>Component 3: Support Vector Machine (SVM)</a:t>
            </a:r>
          </a:p>
          <a:p>
            <a:endParaRPr lang="en-US" b="1" dirty="0"/>
          </a:p>
          <a:p>
            <a:pPr marL="171450" indent="-171450" fontAlgn="base">
              <a:buFont typeface="Arial" panose="020B0604020202020204" pitchFamily="34" charset="0"/>
              <a:buChar char="•"/>
            </a:pPr>
            <a:r>
              <a:rPr lang="en-US" sz="1100" b="1" dirty="0"/>
              <a:t>Role:</a:t>
            </a:r>
            <a:r>
              <a:rPr lang="en-US" sz="1100" dirty="0"/>
              <a:t> Acts as the final classifier.</a:t>
            </a:r>
          </a:p>
          <a:p>
            <a:pPr marL="171450" indent="-171450" fontAlgn="base">
              <a:buFont typeface="Arial" panose="020B0604020202020204" pitchFamily="34" charset="0"/>
              <a:buChar char="•"/>
            </a:pPr>
            <a:r>
              <a:rPr lang="en-US" sz="1100" b="1" dirty="0"/>
              <a:t>Core Idea:</a:t>
            </a:r>
            <a:r>
              <a:rPr lang="en-US" sz="1100" dirty="0"/>
              <a:t> It takes the compact 50-dim vector from PCA and performs the classification. Because these 50 features are derived from the CNN's deep understanding (not raw pixels), they are highly discriminative, allowing the SVM to achieve near-perfect separation.</a:t>
            </a:r>
          </a:p>
          <a:p>
            <a:pPr fontAlgn="base"/>
            <a:endParaRPr lang="en-US" sz="1100" dirty="0"/>
          </a:p>
          <a:p>
            <a:pPr fontAlgn="base"/>
            <a:endParaRPr lang="en-US" sz="1100" dirty="0"/>
          </a:p>
          <a:p>
            <a:r>
              <a:rPr lang="en-US" b="1" dirty="0"/>
              <a:t>Justification:</a:t>
            </a:r>
            <a:r>
              <a:rPr lang="en-US" dirty="0"/>
              <a:t> This 3-stage pipeline (CNN -&gt; PCA -&gt; SVM) gets the best of all worlds: </a:t>
            </a:r>
          </a:p>
          <a:p>
            <a:r>
              <a:rPr lang="en-US" dirty="0"/>
              <a:t>deep learning for feature quality (CNN), statistical reduction for efficiency (PCA), and robust classification for the final decision (SVM).</a:t>
            </a:r>
            <a:endParaRPr b="0" i="0" u="none" strike="noStrike" cap="none" dirty="0">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8"/>
          <p:cNvSpPr txBox="1">
            <a:spLocks noGrp="1"/>
          </p:cNvSpPr>
          <p:nvPr>
            <p:ph type="title"/>
          </p:nvPr>
        </p:nvSpPr>
        <p:spPr>
          <a:xfrm>
            <a:off x="465083" y="187932"/>
            <a:ext cx="8229600" cy="1143000"/>
          </a:xfrm>
          <a:prstGeom prst="rect">
            <a:avLst/>
          </a:prstGeom>
          <a:noFill/>
          <a:ln>
            <a:noFill/>
          </a:ln>
        </p:spPr>
        <p:txBody>
          <a:bodyPr spcFirstLastPara="1" wrap="square" lIns="91425" tIns="45700" rIns="91425" bIns="45700" anchor="ctr" anchorCtr="0">
            <a:normAutofit fontScale="90000"/>
          </a:bodyPr>
          <a:lstStyle/>
          <a:p>
            <a:pPr lvl="0">
              <a:buSzPct val="111000"/>
            </a:pPr>
            <a:r>
              <a:rPr lang="en-US" dirty="0"/>
              <a:t>      </a:t>
            </a:r>
            <a:br>
              <a:rPr lang="en-US" dirty="0"/>
            </a:br>
            <a:r>
              <a:rPr lang="en-US" dirty="0"/>
              <a:t>              </a:t>
            </a:r>
            <a:r>
              <a:rPr lang="en-IN" sz="4000" dirty="0"/>
              <a:t>Implementation Highlights</a:t>
            </a:r>
            <a:endParaRPr sz="4000" dirty="0">
              <a:latin typeface="Times New Roman"/>
              <a:ea typeface="Times New Roman"/>
              <a:cs typeface="Times New Roman"/>
              <a:sym typeface="Times New Roman"/>
            </a:endParaRPr>
          </a:p>
        </p:txBody>
      </p:sp>
      <p:sp>
        <p:nvSpPr>
          <p:cNvPr id="137" name="Google Shape;137;p18"/>
          <p:cNvSpPr txBox="1">
            <a:spLocks noGrp="1"/>
          </p:cNvSpPr>
          <p:nvPr>
            <p:ph type="body" idx="1"/>
          </p:nvPr>
        </p:nvSpPr>
        <p:spPr>
          <a:xfrm>
            <a:off x="457200" y="1569377"/>
            <a:ext cx="8229600" cy="45261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3200"/>
              <a:buNone/>
            </a:pPr>
            <a:r>
              <a:rPr lang="en-US">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pic>
        <p:nvPicPr>
          <p:cNvPr id="138" name="Google Shape;138;p18"/>
          <p:cNvPicPr preferRelativeResize="0"/>
          <p:nvPr/>
        </p:nvPicPr>
        <p:blipFill rotWithShape="1">
          <a:blip r:embed="rId3">
            <a:alphaModFix/>
          </a:blip>
          <a:srcRect/>
          <a:stretch/>
        </p:blipFill>
        <p:spPr>
          <a:xfrm>
            <a:off x="228600" y="553353"/>
            <a:ext cx="2237740" cy="755015"/>
          </a:xfrm>
          <a:prstGeom prst="rect">
            <a:avLst/>
          </a:prstGeom>
          <a:noFill/>
          <a:ln>
            <a:noFill/>
          </a:ln>
        </p:spPr>
      </p:pic>
      <p:sp>
        <p:nvSpPr>
          <p:cNvPr id="139" name="Google Shape;139;p18"/>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a:t>
            </a:fld>
            <a:endParaRPr/>
          </a:p>
        </p:txBody>
      </p:sp>
      <p:sp>
        <p:nvSpPr>
          <p:cNvPr id="140" name="Google Shape;140;p18"/>
          <p:cNvSpPr txBox="1"/>
          <p:nvPr/>
        </p:nvSpPr>
        <p:spPr>
          <a:xfrm>
            <a:off x="457200" y="1305306"/>
            <a:ext cx="8521200" cy="494439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1200"/>
              </a:spcBef>
              <a:spcAft>
                <a:spcPts val="0"/>
              </a:spcAft>
              <a:buClr>
                <a:schemeClr val="dk1"/>
              </a:buClr>
              <a:buSzPts val="1100"/>
              <a:buFont typeface="Arial"/>
              <a:buNone/>
            </a:pPr>
            <a:endParaRPr sz="1100" dirty="0">
              <a:solidFill>
                <a:schemeClr val="dk1"/>
              </a:solidFill>
            </a:endParaRPr>
          </a:p>
          <a:p>
            <a:r>
              <a:rPr lang="en-US" b="1" dirty="0"/>
              <a:t>Tools &amp; Libraries:</a:t>
            </a:r>
          </a:p>
          <a:p>
            <a:endParaRPr lang="en-US" dirty="0"/>
          </a:p>
          <a:p>
            <a:pPr marL="171450" indent="-171450" fontAlgn="base">
              <a:buFont typeface="Arial" panose="020B0604020202020204" pitchFamily="34" charset="0"/>
              <a:buChar char="•"/>
            </a:pPr>
            <a:r>
              <a:rPr lang="en-US" b="1" dirty="0"/>
              <a:t>TensorFlow / </a:t>
            </a:r>
            <a:r>
              <a:rPr lang="en-US" b="1" dirty="0" err="1"/>
              <a:t>Keras</a:t>
            </a:r>
            <a:r>
              <a:rPr lang="en-US" b="1" dirty="0"/>
              <a:t>:</a:t>
            </a:r>
            <a:r>
              <a:rPr lang="en-US" dirty="0"/>
              <a:t> Used for loading the MNIST dataset and for building and training the CNN feature extractor.</a:t>
            </a:r>
          </a:p>
          <a:p>
            <a:pPr marL="171450" indent="-171450" fontAlgn="base">
              <a:buFont typeface="Arial" panose="020B0604020202020204" pitchFamily="34" charset="0"/>
              <a:buChar char="•"/>
            </a:pPr>
            <a:r>
              <a:rPr lang="en-US" b="1" dirty="0"/>
              <a:t>Scikit-learn:</a:t>
            </a:r>
            <a:r>
              <a:rPr lang="en-US" dirty="0"/>
              <a:t> Used for implementing the SVM classifier (SVC), Principal Component Analysis (PCA), and calculating all evaluation metrics.</a:t>
            </a:r>
          </a:p>
          <a:p>
            <a:pPr marL="171450" indent="-171450" fontAlgn="base">
              <a:buFont typeface="Arial" panose="020B0604020202020204" pitchFamily="34" charset="0"/>
              <a:buChar char="•"/>
            </a:pPr>
            <a:r>
              <a:rPr lang="en-US" b="1" dirty="0" err="1"/>
              <a:t>Joblib</a:t>
            </a:r>
            <a:r>
              <a:rPr lang="en-US" b="1" dirty="0"/>
              <a:t>:</a:t>
            </a:r>
            <a:r>
              <a:rPr lang="en-US" dirty="0"/>
              <a:t> Used for saving (serializing) the trained pipeline.</a:t>
            </a:r>
          </a:p>
          <a:p>
            <a:pPr marL="171450" indent="-171450" fontAlgn="base">
              <a:buFont typeface="Arial" panose="020B0604020202020204" pitchFamily="34" charset="0"/>
              <a:buChar char="•"/>
            </a:pPr>
            <a:r>
              <a:rPr lang="en-US" b="1" dirty="0"/>
              <a:t>NumPy:</a:t>
            </a:r>
            <a:r>
              <a:rPr lang="en-US" dirty="0"/>
              <a:t> For numerical operations and data reshaping.</a:t>
            </a:r>
          </a:p>
          <a:p>
            <a:pPr fontAlgn="base"/>
            <a:endParaRPr lang="en-US" dirty="0"/>
          </a:p>
          <a:p>
            <a:r>
              <a:rPr lang="en-US" b="1" dirty="0"/>
              <a:t>Dataset:</a:t>
            </a:r>
          </a:p>
          <a:p>
            <a:endParaRPr lang="en-US" dirty="0"/>
          </a:p>
          <a:p>
            <a:pPr marL="171450" indent="-171450" fontAlgn="base">
              <a:buFont typeface="Arial" panose="020B0604020202020204" pitchFamily="34" charset="0"/>
              <a:buChar char="•"/>
            </a:pPr>
            <a:r>
              <a:rPr lang="en-US" b="1" dirty="0"/>
              <a:t>Name:</a:t>
            </a:r>
            <a:r>
              <a:rPr lang="en-US" dirty="0"/>
              <a:t> MNIST (Modified National Institute of Standards and Technology).</a:t>
            </a:r>
          </a:p>
          <a:p>
            <a:pPr marL="171450" indent="-171450" fontAlgn="base">
              <a:buFont typeface="Arial" panose="020B0604020202020204" pitchFamily="34" charset="0"/>
              <a:buChar char="•"/>
            </a:pPr>
            <a:r>
              <a:rPr lang="en-US" b="1" dirty="0"/>
              <a:t>Training Size:</a:t>
            </a:r>
            <a:r>
              <a:rPr lang="en-US" dirty="0"/>
              <a:t> 60,000 images.</a:t>
            </a:r>
          </a:p>
          <a:p>
            <a:pPr marL="171450" indent="-171450" fontAlgn="base">
              <a:buFont typeface="Arial" panose="020B0604020202020204" pitchFamily="34" charset="0"/>
              <a:buChar char="•"/>
            </a:pPr>
            <a:r>
              <a:rPr lang="en-US" b="1" dirty="0"/>
              <a:t>Testing Size:</a:t>
            </a:r>
            <a:r>
              <a:rPr lang="en-US" dirty="0"/>
              <a:t> 10,000 images.</a:t>
            </a:r>
          </a:p>
          <a:p>
            <a:pPr marL="171450" indent="-171450" fontAlgn="base">
              <a:buFont typeface="Arial" panose="020B0604020202020204" pitchFamily="34" charset="0"/>
              <a:buChar char="•"/>
            </a:pPr>
            <a:r>
              <a:rPr lang="en-US" b="1" dirty="0"/>
              <a:t>Format:</a:t>
            </a:r>
            <a:r>
              <a:rPr lang="en-US" dirty="0"/>
              <a:t> 28x28 grayscale images.</a:t>
            </a:r>
          </a:p>
          <a:p>
            <a:pPr marL="0" lvl="0" indent="0" algn="l" rtl="0">
              <a:lnSpc>
                <a:spcPct val="115000"/>
              </a:lnSpc>
              <a:spcBef>
                <a:spcPts val="1200"/>
              </a:spcBef>
              <a:spcAft>
                <a:spcPts val="0"/>
              </a:spcAft>
              <a:buClr>
                <a:schemeClr val="dk1"/>
              </a:buClr>
              <a:buSzPts val="1100"/>
              <a:buFont typeface="Arial"/>
              <a:buNone/>
            </a:pPr>
            <a:endParaRPr sz="1100" dirty="0">
              <a:solidFill>
                <a:schemeClr val="dk1"/>
              </a:solidFill>
            </a:endParaRPr>
          </a:p>
          <a:p>
            <a:pPr marL="0" marR="0" lvl="0" indent="0" algn="l" rtl="0">
              <a:lnSpc>
                <a:spcPct val="100000"/>
              </a:lnSpc>
              <a:spcBef>
                <a:spcPts val="1200"/>
              </a:spcBef>
              <a:spcAft>
                <a:spcPts val="0"/>
              </a:spcAft>
              <a:buClr>
                <a:srgbClr val="000000"/>
              </a:buClr>
              <a:buSzPts val="2000"/>
              <a:buFont typeface="Arial"/>
              <a:buNone/>
            </a:pPr>
            <a:endParaRPr sz="2000" b="1" i="0" u="sng" strike="noStrike" cap="none" dirty="0">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9"/>
          <p:cNvSpPr txBox="1">
            <a:spLocks noGrp="1"/>
          </p:cNvSpPr>
          <p:nvPr>
            <p:ph type="title"/>
          </p:nvPr>
        </p:nvSpPr>
        <p:spPr>
          <a:xfrm>
            <a:off x="671992" y="-301167"/>
            <a:ext cx="8229600" cy="1143000"/>
          </a:xfrm>
          <a:prstGeom prst="rect">
            <a:avLst/>
          </a:prstGeom>
          <a:noFill/>
          <a:ln>
            <a:noFill/>
          </a:ln>
        </p:spPr>
        <p:txBody>
          <a:bodyPr spcFirstLastPara="1" wrap="square" lIns="91425" tIns="45700" rIns="91425" bIns="45700" anchor="ctr" anchorCtr="0">
            <a:normAutofit fontScale="90000"/>
          </a:bodyPr>
          <a:lstStyle/>
          <a:p>
            <a:pPr lvl="0">
              <a:buSzPct val="111000"/>
            </a:pPr>
            <a:r>
              <a:rPr lang="en-US" dirty="0"/>
              <a:t>      </a:t>
            </a:r>
            <a:br>
              <a:rPr lang="en-US" dirty="0"/>
            </a:br>
            <a:r>
              <a:rPr lang="en-US" dirty="0"/>
              <a:t>   </a:t>
            </a:r>
            <a:r>
              <a:rPr lang="en-US" dirty="0">
                <a:latin typeface="Times New Roman"/>
                <a:ea typeface="Times New Roman"/>
                <a:cs typeface="Times New Roman"/>
                <a:sym typeface="Times New Roman"/>
              </a:rPr>
              <a:t> </a:t>
            </a:r>
            <a:r>
              <a:rPr lang="en-IN" dirty="0"/>
              <a:t>Demonstration</a:t>
            </a:r>
            <a:endParaRPr dirty="0">
              <a:latin typeface="Times New Roman"/>
              <a:ea typeface="Times New Roman"/>
              <a:cs typeface="Times New Roman"/>
              <a:sym typeface="Times New Roman"/>
            </a:endParaRPr>
          </a:p>
        </p:txBody>
      </p:sp>
      <p:pic>
        <p:nvPicPr>
          <p:cNvPr id="147" name="Google Shape;147;p19"/>
          <p:cNvPicPr preferRelativeResize="0"/>
          <p:nvPr/>
        </p:nvPicPr>
        <p:blipFill rotWithShape="1">
          <a:blip r:embed="rId3">
            <a:alphaModFix/>
          </a:blip>
          <a:srcRect/>
          <a:stretch/>
        </p:blipFill>
        <p:spPr>
          <a:xfrm>
            <a:off x="179505" y="179855"/>
            <a:ext cx="2237740" cy="755015"/>
          </a:xfrm>
          <a:prstGeom prst="rect">
            <a:avLst/>
          </a:prstGeom>
          <a:noFill/>
          <a:ln>
            <a:noFill/>
          </a:ln>
        </p:spPr>
      </p:pic>
      <p:sp>
        <p:nvSpPr>
          <p:cNvPr id="148" name="Google Shape;148;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9</a:t>
            </a:fld>
            <a:endParaRPr/>
          </a:p>
        </p:txBody>
      </p:sp>
      <p:pic>
        <p:nvPicPr>
          <p:cNvPr id="3074" name="Picture 2">
            <a:extLst>
              <a:ext uri="{FF2B5EF4-FFF2-40B4-BE49-F238E27FC236}">
                <a16:creationId xmlns:a16="http://schemas.microsoft.com/office/drawing/2014/main" id="{B46D5DB5-D9F1-F610-9B86-79AC1EF38F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2890" y="1209002"/>
            <a:ext cx="7207045" cy="3421991"/>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3225FCEE-308E-DE8E-556C-F24166F4E33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6014" y="4851197"/>
            <a:ext cx="6419010" cy="167742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0"/>
          <p:cNvSpPr txBox="1">
            <a:spLocks noGrp="1"/>
          </p:cNvSpPr>
          <p:nvPr>
            <p:ph type="title"/>
          </p:nvPr>
        </p:nvSpPr>
        <p:spPr>
          <a:xfrm>
            <a:off x="671992" y="-301167"/>
            <a:ext cx="8229600" cy="1143000"/>
          </a:xfrm>
          <a:prstGeom prst="rect">
            <a:avLst/>
          </a:prstGeom>
          <a:noFill/>
          <a:ln>
            <a:noFill/>
          </a:ln>
        </p:spPr>
        <p:txBody>
          <a:bodyPr spcFirstLastPara="1" wrap="square" lIns="91425" tIns="45700" rIns="91425" bIns="45700" anchor="ctr" anchorCtr="0">
            <a:normAutofit fontScale="90000"/>
          </a:bodyPr>
          <a:lstStyle/>
          <a:p>
            <a:pPr lvl="0">
              <a:buSzPct val="111000"/>
            </a:pPr>
            <a:r>
              <a:rPr lang="en-US" dirty="0"/>
              <a:t>      </a:t>
            </a:r>
            <a:br>
              <a:rPr lang="en-US" dirty="0"/>
            </a:br>
            <a:r>
              <a:rPr lang="en-IN" dirty="0"/>
              <a:t>Comparative Analysis</a:t>
            </a:r>
            <a:endParaRPr dirty="0">
              <a:latin typeface="Times New Roman"/>
              <a:ea typeface="Times New Roman"/>
              <a:cs typeface="Times New Roman"/>
              <a:sym typeface="Times New Roman"/>
            </a:endParaRPr>
          </a:p>
        </p:txBody>
      </p:sp>
      <p:pic>
        <p:nvPicPr>
          <p:cNvPr id="155" name="Google Shape;155;p20"/>
          <p:cNvPicPr preferRelativeResize="0"/>
          <p:nvPr/>
        </p:nvPicPr>
        <p:blipFill rotWithShape="1">
          <a:blip r:embed="rId3">
            <a:alphaModFix/>
          </a:blip>
          <a:srcRect/>
          <a:stretch/>
        </p:blipFill>
        <p:spPr>
          <a:xfrm>
            <a:off x="179505" y="179855"/>
            <a:ext cx="2237740" cy="755015"/>
          </a:xfrm>
          <a:prstGeom prst="rect">
            <a:avLst/>
          </a:prstGeom>
          <a:noFill/>
          <a:ln>
            <a:noFill/>
          </a:ln>
        </p:spPr>
      </p:pic>
      <p:sp>
        <p:nvSpPr>
          <p:cNvPr id="157" name="Google Shape;157;p20"/>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10</a:t>
            </a:fld>
            <a:endParaRPr/>
          </a:p>
        </p:txBody>
      </p:sp>
      <p:graphicFrame>
        <p:nvGraphicFramePr>
          <p:cNvPr id="4" name="Table 3">
            <a:extLst>
              <a:ext uri="{FF2B5EF4-FFF2-40B4-BE49-F238E27FC236}">
                <a16:creationId xmlns:a16="http://schemas.microsoft.com/office/drawing/2014/main" id="{4708378D-9B32-23ED-EF8C-E8FE625E7F77}"/>
              </a:ext>
            </a:extLst>
          </p:cNvPr>
          <p:cNvGraphicFramePr>
            <a:graphicFrameLocks noGrp="1"/>
          </p:cNvGraphicFramePr>
          <p:nvPr>
            <p:extLst>
              <p:ext uri="{D42A27DB-BD31-4B8C-83A1-F6EECF244321}">
                <p14:modId xmlns:p14="http://schemas.microsoft.com/office/powerpoint/2010/main" val="4004965669"/>
              </p:ext>
            </p:extLst>
          </p:nvPr>
        </p:nvGraphicFramePr>
        <p:xfrm>
          <a:off x="671992" y="1322856"/>
          <a:ext cx="7872241" cy="4238634"/>
        </p:xfrm>
        <a:graphic>
          <a:graphicData uri="http://schemas.openxmlformats.org/drawingml/2006/table">
            <a:tbl>
              <a:tblPr/>
              <a:tblGrid>
                <a:gridCol w="1978153">
                  <a:extLst>
                    <a:ext uri="{9D8B030D-6E8A-4147-A177-3AD203B41FA5}">
                      <a16:colId xmlns:a16="http://schemas.microsoft.com/office/drawing/2014/main" val="776012926"/>
                    </a:ext>
                  </a:extLst>
                </a:gridCol>
                <a:gridCol w="1762843">
                  <a:extLst>
                    <a:ext uri="{9D8B030D-6E8A-4147-A177-3AD203B41FA5}">
                      <a16:colId xmlns:a16="http://schemas.microsoft.com/office/drawing/2014/main" val="194262273"/>
                    </a:ext>
                  </a:extLst>
                </a:gridCol>
                <a:gridCol w="1776301">
                  <a:extLst>
                    <a:ext uri="{9D8B030D-6E8A-4147-A177-3AD203B41FA5}">
                      <a16:colId xmlns:a16="http://schemas.microsoft.com/office/drawing/2014/main" val="1809421947"/>
                    </a:ext>
                  </a:extLst>
                </a:gridCol>
                <a:gridCol w="2354944">
                  <a:extLst>
                    <a:ext uri="{9D8B030D-6E8A-4147-A177-3AD203B41FA5}">
                      <a16:colId xmlns:a16="http://schemas.microsoft.com/office/drawing/2014/main" val="255012169"/>
                    </a:ext>
                  </a:extLst>
                </a:gridCol>
              </a:tblGrid>
              <a:tr h="867696">
                <a:tc>
                  <a:txBody>
                    <a:bodyPr/>
                    <a:lstStyle/>
                    <a:p>
                      <a:pPr rtl="0" fontAlgn="t">
                        <a:spcAft>
                          <a:spcPts val="2400"/>
                        </a:spcAft>
                        <a:buNone/>
                      </a:pPr>
                      <a:r>
                        <a:rPr lang="en-IN" sz="1100" b="1" i="0" u="none" strike="noStrike">
                          <a:solidFill>
                            <a:srgbClr val="1B1C1D"/>
                          </a:solidFill>
                          <a:effectLst/>
                          <a:latin typeface="Arial" panose="020B0604020202020204" pitchFamily="34" charset="0"/>
                        </a:rPr>
                        <a:t>Metric</a:t>
                      </a:r>
                      <a:endParaRPr lang="en-IN">
                        <a:effectLst/>
                      </a:endParaRPr>
                    </a:p>
                  </a:txBody>
                  <a:tcPr marL="114300" marR="114300" marT="76200" marB="76200">
                    <a:lnL w="6350" cap="flat" cmpd="sng" algn="ctr">
                      <a:solidFill>
                        <a:srgbClr val="1B1C1D"/>
                      </a:solidFill>
                      <a:prstDash val="solid"/>
                      <a:round/>
                      <a:headEnd type="none" w="med" len="med"/>
                      <a:tailEnd type="none" w="med" len="med"/>
                    </a:lnL>
                    <a:lnR w="6350" cap="flat" cmpd="sng" algn="ctr">
                      <a:solidFill>
                        <a:srgbClr val="1B1C1D"/>
                      </a:solidFill>
                      <a:prstDash val="solid"/>
                      <a:round/>
                      <a:headEnd type="none" w="med" len="med"/>
                      <a:tailEnd type="none" w="med" len="med"/>
                    </a:lnR>
                    <a:lnT w="6350" cap="flat" cmpd="sng" algn="ctr">
                      <a:solidFill>
                        <a:srgbClr val="1B1C1D"/>
                      </a:solidFill>
                      <a:prstDash val="solid"/>
                      <a:round/>
                      <a:headEnd type="none" w="med" len="med"/>
                      <a:tailEnd type="none" w="med" len="med"/>
                    </a:lnT>
                    <a:lnB w="6350" cap="flat" cmpd="sng" algn="ctr">
                      <a:solidFill>
                        <a:srgbClr val="1B1C1D"/>
                      </a:solidFill>
                      <a:prstDash val="solid"/>
                      <a:round/>
                      <a:headEnd type="none" w="med" len="med"/>
                      <a:tailEnd type="none" w="med" len="med"/>
                    </a:lnB>
                    <a:solidFill>
                      <a:srgbClr val="EFEFEF"/>
                    </a:solidFill>
                  </a:tcPr>
                </a:tc>
                <a:tc>
                  <a:txBody>
                    <a:bodyPr/>
                    <a:lstStyle/>
                    <a:p>
                      <a:pPr rtl="0" fontAlgn="t">
                        <a:spcAft>
                          <a:spcPts val="2400"/>
                        </a:spcAft>
                        <a:buNone/>
                      </a:pPr>
                      <a:r>
                        <a:rPr lang="en-IN" sz="1100" b="1" i="0" u="none" strike="noStrike">
                          <a:solidFill>
                            <a:srgbClr val="1B1C1D"/>
                          </a:solidFill>
                          <a:effectLst/>
                          <a:latin typeface="Arial" panose="020B0604020202020204" pitchFamily="34" charset="0"/>
                        </a:rPr>
                        <a:t>CNN-PCA-SVM (New Model)</a:t>
                      </a:r>
                      <a:endParaRPr lang="en-IN">
                        <a:effectLst/>
                      </a:endParaRPr>
                    </a:p>
                  </a:txBody>
                  <a:tcPr marL="114300" marR="114300" marT="76200" marB="76200">
                    <a:lnL w="6350" cap="flat" cmpd="sng" algn="ctr">
                      <a:solidFill>
                        <a:srgbClr val="1B1C1D"/>
                      </a:solidFill>
                      <a:prstDash val="solid"/>
                      <a:round/>
                      <a:headEnd type="none" w="med" len="med"/>
                      <a:tailEnd type="none" w="med" len="med"/>
                    </a:lnL>
                    <a:lnR w="6350" cap="flat" cmpd="sng" algn="ctr">
                      <a:solidFill>
                        <a:srgbClr val="1B1C1D"/>
                      </a:solidFill>
                      <a:prstDash val="solid"/>
                      <a:round/>
                      <a:headEnd type="none" w="med" len="med"/>
                      <a:tailEnd type="none" w="med" len="med"/>
                    </a:lnR>
                    <a:lnT w="6350" cap="flat" cmpd="sng" algn="ctr">
                      <a:solidFill>
                        <a:srgbClr val="1B1C1D"/>
                      </a:solidFill>
                      <a:prstDash val="solid"/>
                      <a:round/>
                      <a:headEnd type="none" w="med" len="med"/>
                      <a:tailEnd type="none" w="med" len="med"/>
                    </a:lnT>
                    <a:lnB w="6350" cap="flat" cmpd="sng" algn="ctr">
                      <a:solidFill>
                        <a:srgbClr val="1B1C1D"/>
                      </a:solidFill>
                      <a:prstDash val="solid"/>
                      <a:round/>
                      <a:headEnd type="none" w="med" len="med"/>
                      <a:tailEnd type="none" w="med" len="med"/>
                    </a:lnB>
                    <a:solidFill>
                      <a:srgbClr val="EFEFEF"/>
                    </a:solidFill>
                  </a:tcPr>
                </a:tc>
                <a:tc>
                  <a:txBody>
                    <a:bodyPr/>
                    <a:lstStyle/>
                    <a:p>
                      <a:pPr rtl="0" fontAlgn="t">
                        <a:spcAft>
                          <a:spcPts val="2400"/>
                        </a:spcAft>
                        <a:buNone/>
                      </a:pPr>
                      <a:r>
                        <a:rPr lang="en-IN" sz="1100" b="1" i="0" u="none" strike="noStrike">
                          <a:solidFill>
                            <a:srgbClr val="1B1C1D"/>
                          </a:solidFill>
                          <a:effectLst/>
                          <a:latin typeface="Arial" panose="020B0604020202020204" pitchFamily="34" charset="0"/>
                        </a:rPr>
                        <a:t>PCA-SVM (Review 2 Model)</a:t>
                      </a:r>
                      <a:endParaRPr lang="en-IN">
                        <a:effectLst/>
                      </a:endParaRPr>
                    </a:p>
                  </a:txBody>
                  <a:tcPr marL="114300" marR="114300" marT="76200" marB="76200">
                    <a:lnL w="6350" cap="flat" cmpd="sng" algn="ctr">
                      <a:solidFill>
                        <a:srgbClr val="1B1C1D"/>
                      </a:solidFill>
                      <a:prstDash val="solid"/>
                      <a:round/>
                      <a:headEnd type="none" w="med" len="med"/>
                      <a:tailEnd type="none" w="med" len="med"/>
                    </a:lnL>
                    <a:lnR w="6350" cap="flat" cmpd="sng" algn="ctr">
                      <a:solidFill>
                        <a:srgbClr val="1B1C1D"/>
                      </a:solidFill>
                      <a:prstDash val="solid"/>
                      <a:round/>
                      <a:headEnd type="none" w="med" len="med"/>
                      <a:tailEnd type="none" w="med" len="med"/>
                    </a:lnR>
                    <a:lnT w="6350" cap="flat" cmpd="sng" algn="ctr">
                      <a:solidFill>
                        <a:srgbClr val="1B1C1D"/>
                      </a:solidFill>
                      <a:prstDash val="solid"/>
                      <a:round/>
                      <a:headEnd type="none" w="med" len="med"/>
                      <a:tailEnd type="none" w="med" len="med"/>
                    </a:lnT>
                    <a:lnB w="6350" cap="flat" cmpd="sng" algn="ctr">
                      <a:solidFill>
                        <a:srgbClr val="1B1C1D"/>
                      </a:solidFill>
                      <a:prstDash val="solid"/>
                      <a:round/>
                      <a:headEnd type="none" w="med" len="med"/>
                      <a:tailEnd type="none" w="med" len="med"/>
                    </a:lnB>
                    <a:solidFill>
                      <a:srgbClr val="EFEFEF"/>
                    </a:solidFill>
                  </a:tcPr>
                </a:tc>
                <a:tc>
                  <a:txBody>
                    <a:bodyPr/>
                    <a:lstStyle/>
                    <a:p>
                      <a:pPr rtl="0" fontAlgn="t">
                        <a:spcAft>
                          <a:spcPts val="2400"/>
                        </a:spcAft>
                        <a:buNone/>
                      </a:pPr>
                      <a:r>
                        <a:rPr lang="en-IN" sz="1100" b="1" i="0" u="none" strike="noStrike">
                          <a:solidFill>
                            <a:srgbClr val="1B1C1D"/>
                          </a:solidFill>
                          <a:effectLst/>
                          <a:latin typeface="Arial" panose="020B0604020202020204" pitchFamily="34" charset="0"/>
                        </a:rPr>
                        <a:t>Key Takeaway</a:t>
                      </a:r>
                      <a:endParaRPr lang="en-IN">
                        <a:effectLst/>
                      </a:endParaRPr>
                    </a:p>
                  </a:txBody>
                  <a:tcPr marL="114300" marR="114300" marT="76200" marB="76200">
                    <a:lnL w="6350" cap="flat" cmpd="sng" algn="ctr">
                      <a:solidFill>
                        <a:srgbClr val="1B1C1D"/>
                      </a:solidFill>
                      <a:prstDash val="solid"/>
                      <a:round/>
                      <a:headEnd type="none" w="med" len="med"/>
                      <a:tailEnd type="none" w="med" len="med"/>
                    </a:lnL>
                    <a:lnR w="6350" cap="flat" cmpd="sng" algn="ctr">
                      <a:solidFill>
                        <a:srgbClr val="1B1C1D"/>
                      </a:solidFill>
                      <a:prstDash val="solid"/>
                      <a:round/>
                      <a:headEnd type="none" w="med" len="med"/>
                      <a:tailEnd type="none" w="med" len="med"/>
                    </a:lnR>
                    <a:lnT w="6350" cap="flat" cmpd="sng" algn="ctr">
                      <a:solidFill>
                        <a:srgbClr val="1B1C1D"/>
                      </a:solidFill>
                      <a:prstDash val="solid"/>
                      <a:round/>
                      <a:headEnd type="none" w="med" len="med"/>
                      <a:tailEnd type="none" w="med" len="med"/>
                    </a:lnT>
                    <a:lnB w="6350" cap="flat" cmpd="sng" algn="ctr">
                      <a:solidFill>
                        <a:srgbClr val="1B1C1D"/>
                      </a:solidFill>
                      <a:prstDash val="solid"/>
                      <a:round/>
                      <a:headEnd type="none" w="med" len="med"/>
                      <a:tailEnd type="none" w="med" len="med"/>
                    </a:lnB>
                    <a:solidFill>
                      <a:srgbClr val="EFEFEF"/>
                    </a:solidFill>
                  </a:tcPr>
                </a:tc>
                <a:extLst>
                  <a:ext uri="{0D108BD9-81ED-4DB2-BD59-A6C34878D82A}">
                    <a16:rowId xmlns:a16="http://schemas.microsoft.com/office/drawing/2014/main" val="1189483767"/>
                  </a:ext>
                </a:extLst>
              </a:tr>
              <a:tr h="867696">
                <a:tc>
                  <a:txBody>
                    <a:bodyPr/>
                    <a:lstStyle/>
                    <a:p>
                      <a:pPr rtl="0" fontAlgn="t">
                        <a:spcAft>
                          <a:spcPts val="2400"/>
                        </a:spcAft>
                        <a:buNone/>
                      </a:pPr>
                      <a:r>
                        <a:rPr lang="en-IN" sz="1100" b="1" i="0" u="none" strike="noStrike">
                          <a:solidFill>
                            <a:srgbClr val="1B1C1D"/>
                          </a:solidFill>
                          <a:effectLst/>
                          <a:latin typeface="Arial" panose="020B0604020202020204" pitchFamily="34" charset="0"/>
                        </a:rPr>
                        <a:t>Test Accuracy</a:t>
                      </a:r>
                      <a:endParaRPr lang="en-IN">
                        <a:effectLst/>
                      </a:endParaRPr>
                    </a:p>
                  </a:txBody>
                  <a:tcPr marL="114300" marR="114300" marT="76200" marB="76200">
                    <a:lnL w="6350" cap="flat" cmpd="sng" algn="ctr">
                      <a:solidFill>
                        <a:srgbClr val="1B1C1D"/>
                      </a:solidFill>
                      <a:prstDash val="solid"/>
                      <a:round/>
                      <a:headEnd type="none" w="med" len="med"/>
                      <a:tailEnd type="none" w="med" len="med"/>
                    </a:lnL>
                    <a:lnR w="6350" cap="flat" cmpd="sng" algn="ctr">
                      <a:solidFill>
                        <a:srgbClr val="1B1C1D"/>
                      </a:solidFill>
                      <a:prstDash val="solid"/>
                      <a:round/>
                      <a:headEnd type="none" w="med" len="med"/>
                      <a:tailEnd type="none" w="med" len="med"/>
                    </a:lnR>
                    <a:lnT w="6350" cap="flat" cmpd="sng" algn="ctr">
                      <a:solidFill>
                        <a:srgbClr val="1B1C1D"/>
                      </a:solidFill>
                      <a:prstDash val="solid"/>
                      <a:round/>
                      <a:headEnd type="none" w="med" len="med"/>
                      <a:tailEnd type="none" w="med" len="med"/>
                    </a:lnT>
                    <a:lnB w="6350" cap="flat" cmpd="sng" algn="ctr">
                      <a:solidFill>
                        <a:srgbClr val="1B1C1D"/>
                      </a:solidFill>
                      <a:prstDash val="solid"/>
                      <a:round/>
                      <a:headEnd type="none" w="med" len="med"/>
                      <a:tailEnd type="none" w="med" len="med"/>
                    </a:lnB>
                    <a:noFill/>
                  </a:tcPr>
                </a:tc>
                <a:tc>
                  <a:txBody>
                    <a:bodyPr/>
                    <a:lstStyle/>
                    <a:p>
                      <a:pPr rtl="0" fontAlgn="t">
                        <a:spcAft>
                          <a:spcPts val="2400"/>
                        </a:spcAft>
                        <a:buNone/>
                      </a:pPr>
                      <a:r>
                        <a:rPr lang="en-IN" sz="1100" b="1" i="0" u="none" strike="noStrike">
                          <a:solidFill>
                            <a:srgbClr val="1B1C1D"/>
                          </a:solidFill>
                          <a:effectLst/>
                          <a:latin typeface="Arial" panose="020B0604020202020204" pitchFamily="34" charset="0"/>
                        </a:rPr>
                        <a:t>99.25%</a:t>
                      </a:r>
                      <a:endParaRPr lang="en-IN">
                        <a:effectLst/>
                      </a:endParaRPr>
                    </a:p>
                  </a:txBody>
                  <a:tcPr marL="114300" marR="114300" marT="76200" marB="76200">
                    <a:lnL w="6350" cap="flat" cmpd="sng" algn="ctr">
                      <a:solidFill>
                        <a:srgbClr val="1B1C1D"/>
                      </a:solidFill>
                      <a:prstDash val="solid"/>
                      <a:round/>
                      <a:headEnd type="none" w="med" len="med"/>
                      <a:tailEnd type="none" w="med" len="med"/>
                    </a:lnL>
                    <a:lnR w="6350" cap="flat" cmpd="sng" algn="ctr">
                      <a:solidFill>
                        <a:srgbClr val="1B1C1D"/>
                      </a:solidFill>
                      <a:prstDash val="solid"/>
                      <a:round/>
                      <a:headEnd type="none" w="med" len="med"/>
                      <a:tailEnd type="none" w="med" len="med"/>
                    </a:lnR>
                    <a:lnT w="6350" cap="flat" cmpd="sng" algn="ctr">
                      <a:solidFill>
                        <a:srgbClr val="1B1C1D"/>
                      </a:solidFill>
                      <a:prstDash val="solid"/>
                      <a:round/>
                      <a:headEnd type="none" w="med" len="med"/>
                      <a:tailEnd type="none" w="med" len="med"/>
                    </a:lnT>
                    <a:lnB w="6350" cap="flat" cmpd="sng" algn="ctr">
                      <a:solidFill>
                        <a:srgbClr val="1B1C1D"/>
                      </a:solidFill>
                      <a:prstDash val="solid"/>
                      <a:round/>
                      <a:headEnd type="none" w="med" len="med"/>
                      <a:tailEnd type="none" w="med" len="med"/>
                    </a:lnB>
                    <a:noFill/>
                  </a:tcPr>
                </a:tc>
                <a:tc>
                  <a:txBody>
                    <a:bodyPr/>
                    <a:lstStyle/>
                    <a:p>
                      <a:pPr rtl="0" fontAlgn="t">
                        <a:spcAft>
                          <a:spcPts val="2400"/>
                        </a:spcAft>
                        <a:buNone/>
                      </a:pPr>
                      <a:r>
                        <a:rPr lang="en-IN" sz="1100" b="0" i="0" u="none" strike="noStrike">
                          <a:solidFill>
                            <a:srgbClr val="1B1C1D"/>
                          </a:solidFill>
                          <a:effectLst/>
                          <a:latin typeface="Arial" panose="020B0604020202020204" pitchFamily="34" charset="0"/>
                        </a:rPr>
                        <a:t>97.86%</a:t>
                      </a:r>
                      <a:endParaRPr lang="en-IN">
                        <a:effectLst/>
                      </a:endParaRPr>
                    </a:p>
                  </a:txBody>
                  <a:tcPr marL="114300" marR="114300" marT="76200" marB="76200">
                    <a:lnL w="6350" cap="flat" cmpd="sng" algn="ctr">
                      <a:solidFill>
                        <a:srgbClr val="1B1C1D"/>
                      </a:solidFill>
                      <a:prstDash val="solid"/>
                      <a:round/>
                      <a:headEnd type="none" w="med" len="med"/>
                      <a:tailEnd type="none" w="med" len="med"/>
                    </a:lnL>
                    <a:lnR w="6350" cap="flat" cmpd="sng" algn="ctr">
                      <a:solidFill>
                        <a:srgbClr val="1B1C1D"/>
                      </a:solidFill>
                      <a:prstDash val="solid"/>
                      <a:round/>
                      <a:headEnd type="none" w="med" len="med"/>
                      <a:tailEnd type="none" w="med" len="med"/>
                    </a:lnR>
                    <a:lnT w="6350" cap="flat" cmpd="sng" algn="ctr">
                      <a:solidFill>
                        <a:srgbClr val="1B1C1D"/>
                      </a:solidFill>
                      <a:prstDash val="solid"/>
                      <a:round/>
                      <a:headEnd type="none" w="med" len="med"/>
                      <a:tailEnd type="none" w="med" len="med"/>
                    </a:lnT>
                    <a:lnB w="6350" cap="flat" cmpd="sng" algn="ctr">
                      <a:solidFill>
                        <a:srgbClr val="1B1C1D"/>
                      </a:solidFill>
                      <a:prstDash val="solid"/>
                      <a:round/>
                      <a:headEnd type="none" w="med" len="med"/>
                      <a:tailEnd type="none" w="med" len="med"/>
                    </a:lnB>
                    <a:noFill/>
                  </a:tcPr>
                </a:tc>
                <a:tc>
                  <a:txBody>
                    <a:bodyPr/>
                    <a:lstStyle/>
                    <a:p>
                      <a:pPr rtl="0" fontAlgn="t">
                        <a:spcAft>
                          <a:spcPts val="2400"/>
                        </a:spcAft>
                        <a:buNone/>
                      </a:pPr>
                      <a:r>
                        <a:rPr lang="en-US" sz="1100" b="0" i="0" u="none" strike="noStrike">
                          <a:solidFill>
                            <a:srgbClr val="1B1C1D"/>
                          </a:solidFill>
                          <a:effectLst/>
                          <a:latin typeface="Arial" panose="020B0604020202020204" pitchFamily="34" charset="0"/>
                        </a:rPr>
                        <a:t>The new model is ~1.4% more accurate.</a:t>
                      </a:r>
                      <a:endParaRPr lang="en-US">
                        <a:effectLst/>
                      </a:endParaRPr>
                    </a:p>
                  </a:txBody>
                  <a:tcPr marL="114300" marR="114300" marT="76200" marB="76200">
                    <a:lnL w="6350" cap="flat" cmpd="sng" algn="ctr">
                      <a:solidFill>
                        <a:srgbClr val="1B1C1D"/>
                      </a:solidFill>
                      <a:prstDash val="solid"/>
                      <a:round/>
                      <a:headEnd type="none" w="med" len="med"/>
                      <a:tailEnd type="none" w="med" len="med"/>
                    </a:lnL>
                    <a:lnR w="6350" cap="flat" cmpd="sng" algn="ctr">
                      <a:solidFill>
                        <a:srgbClr val="1B1C1D"/>
                      </a:solidFill>
                      <a:prstDash val="solid"/>
                      <a:round/>
                      <a:headEnd type="none" w="med" len="med"/>
                      <a:tailEnd type="none" w="med" len="med"/>
                    </a:lnR>
                    <a:lnT w="6350" cap="flat" cmpd="sng" algn="ctr">
                      <a:solidFill>
                        <a:srgbClr val="1B1C1D"/>
                      </a:solidFill>
                      <a:prstDash val="solid"/>
                      <a:round/>
                      <a:headEnd type="none" w="med" len="med"/>
                      <a:tailEnd type="none" w="med" len="med"/>
                    </a:lnT>
                    <a:lnB w="6350" cap="flat" cmpd="sng" algn="ctr">
                      <a:solidFill>
                        <a:srgbClr val="1B1C1D"/>
                      </a:solidFill>
                      <a:prstDash val="solid"/>
                      <a:round/>
                      <a:headEnd type="none" w="med" len="med"/>
                      <a:tailEnd type="none" w="med" len="med"/>
                    </a:lnB>
                    <a:noFill/>
                  </a:tcPr>
                </a:tc>
                <a:extLst>
                  <a:ext uri="{0D108BD9-81ED-4DB2-BD59-A6C34878D82A}">
                    <a16:rowId xmlns:a16="http://schemas.microsoft.com/office/drawing/2014/main" val="3975450073"/>
                  </a:ext>
                </a:extLst>
              </a:tr>
              <a:tr h="867696">
                <a:tc>
                  <a:txBody>
                    <a:bodyPr/>
                    <a:lstStyle/>
                    <a:p>
                      <a:pPr rtl="0" fontAlgn="t">
                        <a:spcAft>
                          <a:spcPts val="2400"/>
                        </a:spcAft>
                        <a:buNone/>
                      </a:pPr>
                      <a:r>
                        <a:rPr lang="en-IN" sz="1100" b="1" i="0" u="none" strike="noStrike">
                          <a:solidFill>
                            <a:srgbClr val="1B1C1D"/>
                          </a:solidFill>
                          <a:effectLst/>
                          <a:latin typeface="Arial" panose="020B0604020202020204" pitchFamily="34" charset="0"/>
                        </a:rPr>
                        <a:t>Misclassified Samples</a:t>
                      </a:r>
                      <a:endParaRPr lang="en-IN">
                        <a:effectLst/>
                      </a:endParaRPr>
                    </a:p>
                  </a:txBody>
                  <a:tcPr marL="114300" marR="114300" marT="76200" marB="76200">
                    <a:lnL w="6350" cap="flat" cmpd="sng" algn="ctr">
                      <a:solidFill>
                        <a:srgbClr val="1B1C1D"/>
                      </a:solidFill>
                      <a:prstDash val="solid"/>
                      <a:round/>
                      <a:headEnd type="none" w="med" len="med"/>
                      <a:tailEnd type="none" w="med" len="med"/>
                    </a:lnL>
                    <a:lnR w="6350" cap="flat" cmpd="sng" algn="ctr">
                      <a:solidFill>
                        <a:srgbClr val="1B1C1D"/>
                      </a:solidFill>
                      <a:prstDash val="solid"/>
                      <a:round/>
                      <a:headEnd type="none" w="med" len="med"/>
                      <a:tailEnd type="none" w="med" len="med"/>
                    </a:lnR>
                    <a:lnT w="6350" cap="flat" cmpd="sng" algn="ctr">
                      <a:solidFill>
                        <a:srgbClr val="1B1C1D"/>
                      </a:solidFill>
                      <a:prstDash val="solid"/>
                      <a:round/>
                      <a:headEnd type="none" w="med" len="med"/>
                      <a:tailEnd type="none" w="med" len="med"/>
                    </a:lnT>
                    <a:lnB w="6350" cap="flat" cmpd="sng" algn="ctr">
                      <a:solidFill>
                        <a:srgbClr val="1B1C1D"/>
                      </a:solidFill>
                      <a:prstDash val="solid"/>
                      <a:round/>
                      <a:headEnd type="none" w="med" len="med"/>
                      <a:tailEnd type="none" w="med" len="med"/>
                    </a:lnB>
                    <a:noFill/>
                  </a:tcPr>
                </a:tc>
                <a:tc>
                  <a:txBody>
                    <a:bodyPr/>
                    <a:lstStyle/>
                    <a:p>
                      <a:pPr rtl="0" fontAlgn="t">
                        <a:spcAft>
                          <a:spcPts val="2400"/>
                        </a:spcAft>
                        <a:buNone/>
                      </a:pPr>
                      <a:r>
                        <a:rPr lang="en-IN" sz="1100" b="1" i="0" u="none" strike="noStrike">
                          <a:solidFill>
                            <a:srgbClr val="1B1C1D"/>
                          </a:solidFill>
                          <a:effectLst/>
                          <a:latin typeface="Arial" panose="020B0604020202020204" pitchFamily="34" charset="0"/>
                        </a:rPr>
                        <a:t>75 / 10,000</a:t>
                      </a:r>
                      <a:endParaRPr lang="en-IN">
                        <a:effectLst/>
                      </a:endParaRPr>
                    </a:p>
                  </a:txBody>
                  <a:tcPr marL="114300" marR="114300" marT="76200" marB="76200">
                    <a:lnL w="6350" cap="flat" cmpd="sng" algn="ctr">
                      <a:solidFill>
                        <a:srgbClr val="1B1C1D"/>
                      </a:solidFill>
                      <a:prstDash val="solid"/>
                      <a:round/>
                      <a:headEnd type="none" w="med" len="med"/>
                      <a:tailEnd type="none" w="med" len="med"/>
                    </a:lnL>
                    <a:lnR w="6350" cap="flat" cmpd="sng" algn="ctr">
                      <a:solidFill>
                        <a:srgbClr val="1B1C1D"/>
                      </a:solidFill>
                      <a:prstDash val="solid"/>
                      <a:round/>
                      <a:headEnd type="none" w="med" len="med"/>
                      <a:tailEnd type="none" w="med" len="med"/>
                    </a:lnR>
                    <a:lnT w="6350" cap="flat" cmpd="sng" algn="ctr">
                      <a:solidFill>
                        <a:srgbClr val="1B1C1D"/>
                      </a:solidFill>
                      <a:prstDash val="solid"/>
                      <a:round/>
                      <a:headEnd type="none" w="med" len="med"/>
                      <a:tailEnd type="none" w="med" len="med"/>
                    </a:lnT>
                    <a:lnB w="6350" cap="flat" cmpd="sng" algn="ctr">
                      <a:solidFill>
                        <a:srgbClr val="1B1C1D"/>
                      </a:solidFill>
                      <a:prstDash val="solid"/>
                      <a:round/>
                      <a:headEnd type="none" w="med" len="med"/>
                      <a:tailEnd type="none" w="med" len="med"/>
                    </a:lnB>
                    <a:noFill/>
                  </a:tcPr>
                </a:tc>
                <a:tc>
                  <a:txBody>
                    <a:bodyPr/>
                    <a:lstStyle/>
                    <a:p>
                      <a:pPr rtl="0" fontAlgn="t">
                        <a:spcAft>
                          <a:spcPts val="2400"/>
                        </a:spcAft>
                        <a:buNone/>
                      </a:pPr>
                      <a:r>
                        <a:rPr lang="en-IN" sz="1100" b="0" i="0" u="none" strike="noStrike">
                          <a:solidFill>
                            <a:srgbClr val="1B1C1D"/>
                          </a:solidFill>
                          <a:effectLst/>
                          <a:latin typeface="Arial" panose="020B0604020202020204" pitchFamily="34" charset="0"/>
                        </a:rPr>
                        <a:t>214 / 10,000</a:t>
                      </a:r>
                      <a:endParaRPr lang="en-IN">
                        <a:effectLst/>
                      </a:endParaRPr>
                    </a:p>
                  </a:txBody>
                  <a:tcPr marL="114300" marR="114300" marT="76200" marB="76200">
                    <a:lnL w="6350" cap="flat" cmpd="sng" algn="ctr">
                      <a:solidFill>
                        <a:srgbClr val="1B1C1D"/>
                      </a:solidFill>
                      <a:prstDash val="solid"/>
                      <a:round/>
                      <a:headEnd type="none" w="med" len="med"/>
                      <a:tailEnd type="none" w="med" len="med"/>
                    </a:lnL>
                    <a:lnR w="6350" cap="flat" cmpd="sng" algn="ctr">
                      <a:solidFill>
                        <a:srgbClr val="1B1C1D"/>
                      </a:solidFill>
                      <a:prstDash val="solid"/>
                      <a:round/>
                      <a:headEnd type="none" w="med" len="med"/>
                      <a:tailEnd type="none" w="med" len="med"/>
                    </a:lnR>
                    <a:lnT w="6350" cap="flat" cmpd="sng" algn="ctr">
                      <a:solidFill>
                        <a:srgbClr val="1B1C1D"/>
                      </a:solidFill>
                      <a:prstDash val="solid"/>
                      <a:round/>
                      <a:headEnd type="none" w="med" len="med"/>
                      <a:tailEnd type="none" w="med" len="med"/>
                    </a:lnT>
                    <a:lnB w="6350" cap="flat" cmpd="sng" algn="ctr">
                      <a:solidFill>
                        <a:srgbClr val="1B1C1D"/>
                      </a:solidFill>
                      <a:prstDash val="solid"/>
                      <a:round/>
                      <a:headEnd type="none" w="med" len="med"/>
                      <a:tailEnd type="none" w="med" len="med"/>
                    </a:lnB>
                    <a:noFill/>
                  </a:tcPr>
                </a:tc>
                <a:tc>
                  <a:txBody>
                    <a:bodyPr/>
                    <a:lstStyle/>
                    <a:p>
                      <a:pPr rtl="0" fontAlgn="t">
                        <a:spcAft>
                          <a:spcPts val="2400"/>
                        </a:spcAft>
                        <a:buNone/>
                      </a:pPr>
                      <a:r>
                        <a:rPr lang="en-US" sz="1100" b="0" i="0" u="none" strike="noStrike">
                          <a:solidFill>
                            <a:srgbClr val="1B1C1D"/>
                          </a:solidFill>
                          <a:effectLst/>
                          <a:latin typeface="Arial" panose="020B0604020202020204" pitchFamily="34" charset="0"/>
                        </a:rPr>
                        <a:t>The new model makes 2.85x fewer errors.</a:t>
                      </a:r>
                      <a:endParaRPr lang="en-US">
                        <a:effectLst/>
                      </a:endParaRPr>
                    </a:p>
                  </a:txBody>
                  <a:tcPr marL="114300" marR="114300" marT="76200" marB="76200">
                    <a:lnL w="6350" cap="flat" cmpd="sng" algn="ctr">
                      <a:solidFill>
                        <a:srgbClr val="1B1C1D"/>
                      </a:solidFill>
                      <a:prstDash val="solid"/>
                      <a:round/>
                      <a:headEnd type="none" w="med" len="med"/>
                      <a:tailEnd type="none" w="med" len="med"/>
                    </a:lnL>
                    <a:lnR w="6350" cap="flat" cmpd="sng" algn="ctr">
                      <a:solidFill>
                        <a:srgbClr val="1B1C1D"/>
                      </a:solidFill>
                      <a:prstDash val="solid"/>
                      <a:round/>
                      <a:headEnd type="none" w="med" len="med"/>
                      <a:tailEnd type="none" w="med" len="med"/>
                    </a:lnR>
                    <a:lnT w="6350" cap="flat" cmpd="sng" algn="ctr">
                      <a:solidFill>
                        <a:srgbClr val="1B1C1D"/>
                      </a:solidFill>
                      <a:prstDash val="solid"/>
                      <a:round/>
                      <a:headEnd type="none" w="med" len="med"/>
                      <a:tailEnd type="none" w="med" len="med"/>
                    </a:lnT>
                    <a:lnB w="6350" cap="flat" cmpd="sng" algn="ctr">
                      <a:solidFill>
                        <a:srgbClr val="1B1C1D"/>
                      </a:solidFill>
                      <a:prstDash val="solid"/>
                      <a:round/>
                      <a:headEnd type="none" w="med" len="med"/>
                      <a:tailEnd type="none" w="med" len="med"/>
                    </a:lnB>
                    <a:noFill/>
                  </a:tcPr>
                </a:tc>
                <a:extLst>
                  <a:ext uri="{0D108BD9-81ED-4DB2-BD59-A6C34878D82A}">
                    <a16:rowId xmlns:a16="http://schemas.microsoft.com/office/drawing/2014/main" val="3332496162"/>
                  </a:ext>
                </a:extLst>
              </a:tr>
              <a:tr h="817773">
                <a:tc>
                  <a:txBody>
                    <a:bodyPr/>
                    <a:lstStyle/>
                    <a:p>
                      <a:pPr rtl="0" fontAlgn="t">
                        <a:spcAft>
                          <a:spcPts val="2400"/>
                        </a:spcAft>
                        <a:buNone/>
                      </a:pPr>
                      <a:r>
                        <a:rPr lang="en-IN" sz="1100" b="1" i="0" u="none" strike="noStrike">
                          <a:solidFill>
                            <a:srgbClr val="1B1C1D"/>
                          </a:solidFill>
                          <a:effectLst/>
                          <a:latin typeface="Arial" panose="020B0604020202020204" pitchFamily="34" charset="0"/>
                        </a:rPr>
                        <a:t>Macro Avg F1-Score</a:t>
                      </a:r>
                      <a:endParaRPr lang="en-IN">
                        <a:effectLst/>
                      </a:endParaRPr>
                    </a:p>
                  </a:txBody>
                  <a:tcPr marL="114300" marR="114300" marT="76200" marB="76200">
                    <a:lnL w="6350" cap="flat" cmpd="sng" algn="ctr">
                      <a:solidFill>
                        <a:srgbClr val="1B1C1D"/>
                      </a:solidFill>
                      <a:prstDash val="solid"/>
                      <a:round/>
                      <a:headEnd type="none" w="med" len="med"/>
                      <a:tailEnd type="none" w="med" len="med"/>
                    </a:lnL>
                    <a:lnR w="6350" cap="flat" cmpd="sng" algn="ctr">
                      <a:solidFill>
                        <a:srgbClr val="1B1C1D"/>
                      </a:solidFill>
                      <a:prstDash val="solid"/>
                      <a:round/>
                      <a:headEnd type="none" w="med" len="med"/>
                      <a:tailEnd type="none" w="med" len="med"/>
                    </a:lnR>
                    <a:lnT w="6350" cap="flat" cmpd="sng" algn="ctr">
                      <a:solidFill>
                        <a:srgbClr val="1B1C1D"/>
                      </a:solidFill>
                      <a:prstDash val="solid"/>
                      <a:round/>
                      <a:headEnd type="none" w="med" len="med"/>
                      <a:tailEnd type="none" w="med" len="med"/>
                    </a:lnT>
                    <a:lnB w="6350" cap="flat" cmpd="sng" algn="ctr">
                      <a:solidFill>
                        <a:srgbClr val="1B1C1D"/>
                      </a:solidFill>
                      <a:prstDash val="solid"/>
                      <a:round/>
                      <a:headEnd type="none" w="med" len="med"/>
                      <a:tailEnd type="none" w="med" len="med"/>
                    </a:lnB>
                    <a:noFill/>
                  </a:tcPr>
                </a:tc>
                <a:tc>
                  <a:txBody>
                    <a:bodyPr/>
                    <a:lstStyle/>
                    <a:p>
                      <a:pPr rtl="0" fontAlgn="t">
                        <a:spcAft>
                          <a:spcPts val="2400"/>
                        </a:spcAft>
                        <a:buNone/>
                      </a:pPr>
                      <a:r>
                        <a:rPr lang="en-IN" sz="1100" b="1" i="0" u="none" strike="noStrike">
                          <a:solidFill>
                            <a:srgbClr val="1B1C1D"/>
                          </a:solidFill>
                          <a:effectLst/>
                          <a:latin typeface="Arial" panose="020B0604020202020204" pitchFamily="34" charset="0"/>
                        </a:rPr>
                        <a:t>0.9924</a:t>
                      </a:r>
                      <a:endParaRPr lang="en-IN">
                        <a:effectLst/>
                      </a:endParaRPr>
                    </a:p>
                  </a:txBody>
                  <a:tcPr marL="114300" marR="114300" marT="76200" marB="76200">
                    <a:lnL w="6350" cap="flat" cmpd="sng" algn="ctr">
                      <a:solidFill>
                        <a:srgbClr val="1B1C1D"/>
                      </a:solidFill>
                      <a:prstDash val="solid"/>
                      <a:round/>
                      <a:headEnd type="none" w="med" len="med"/>
                      <a:tailEnd type="none" w="med" len="med"/>
                    </a:lnL>
                    <a:lnR w="6350" cap="flat" cmpd="sng" algn="ctr">
                      <a:solidFill>
                        <a:srgbClr val="1B1C1D"/>
                      </a:solidFill>
                      <a:prstDash val="solid"/>
                      <a:round/>
                      <a:headEnd type="none" w="med" len="med"/>
                      <a:tailEnd type="none" w="med" len="med"/>
                    </a:lnR>
                    <a:lnT w="6350" cap="flat" cmpd="sng" algn="ctr">
                      <a:solidFill>
                        <a:srgbClr val="1B1C1D"/>
                      </a:solidFill>
                      <a:prstDash val="solid"/>
                      <a:round/>
                      <a:headEnd type="none" w="med" len="med"/>
                      <a:tailEnd type="none" w="med" len="med"/>
                    </a:lnT>
                    <a:lnB w="6350" cap="flat" cmpd="sng" algn="ctr">
                      <a:solidFill>
                        <a:srgbClr val="1B1C1D"/>
                      </a:solidFill>
                      <a:prstDash val="solid"/>
                      <a:round/>
                      <a:headEnd type="none" w="med" len="med"/>
                      <a:tailEnd type="none" w="med" len="med"/>
                    </a:lnB>
                    <a:noFill/>
                  </a:tcPr>
                </a:tc>
                <a:tc>
                  <a:txBody>
                    <a:bodyPr/>
                    <a:lstStyle/>
                    <a:p>
                      <a:pPr rtl="0" fontAlgn="t">
                        <a:spcAft>
                          <a:spcPts val="2400"/>
                        </a:spcAft>
                        <a:buNone/>
                      </a:pPr>
                      <a:r>
                        <a:rPr lang="en-IN" sz="1100" b="0" i="0" u="none" strike="noStrike">
                          <a:solidFill>
                            <a:srgbClr val="1B1C1D"/>
                          </a:solidFill>
                          <a:effectLst/>
                          <a:latin typeface="Arial" panose="020B0604020202020204" pitchFamily="34" charset="0"/>
                        </a:rPr>
                        <a:t>0.978</a:t>
                      </a:r>
                      <a:endParaRPr lang="en-IN">
                        <a:effectLst/>
                      </a:endParaRPr>
                    </a:p>
                  </a:txBody>
                  <a:tcPr marL="114300" marR="114300" marT="76200" marB="76200">
                    <a:lnL w="6350" cap="flat" cmpd="sng" algn="ctr">
                      <a:solidFill>
                        <a:srgbClr val="1B1C1D"/>
                      </a:solidFill>
                      <a:prstDash val="solid"/>
                      <a:round/>
                      <a:headEnd type="none" w="med" len="med"/>
                      <a:tailEnd type="none" w="med" len="med"/>
                    </a:lnL>
                    <a:lnR w="6350" cap="flat" cmpd="sng" algn="ctr">
                      <a:solidFill>
                        <a:srgbClr val="1B1C1D"/>
                      </a:solidFill>
                      <a:prstDash val="solid"/>
                      <a:round/>
                      <a:headEnd type="none" w="med" len="med"/>
                      <a:tailEnd type="none" w="med" len="med"/>
                    </a:lnR>
                    <a:lnT w="6350" cap="flat" cmpd="sng" algn="ctr">
                      <a:solidFill>
                        <a:srgbClr val="1B1C1D"/>
                      </a:solidFill>
                      <a:prstDash val="solid"/>
                      <a:round/>
                      <a:headEnd type="none" w="med" len="med"/>
                      <a:tailEnd type="none" w="med" len="med"/>
                    </a:lnT>
                    <a:lnB w="6350" cap="flat" cmpd="sng" algn="ctr">
                      <a:solidFill>
                        <a:srgbClr val="1B1C1D"/>
                      </a:solidFill>
                      <a:prstDash val="solid"/>
                      <a:round/>
                      <a:headEnd type="none" w="med" len="med"/>
                      <a:tailEnd type="none" w="med" len="med"/>
                    </a:lnB>
                    <a:noFill/>
                  </a:tcPr>
                </a:tc>
                <a:tc>
                  <a:txBody>
                    <a:bodyPr/>
                    <a:lstStyle/>
                    <a:p>
                      <a:pPr rtl="0" fontAlgn="t">
                        <a:spcAft>
                          <a:spcPts val="2400"/>
                        </a:spcAft>
                        <a:buNone/>
                      </a:pPr>
                      <a:r>
                        <a:rPr lang="en-US" sz="1100" b="0" i="0" u="none" strike="noStrike">
                          <a:solidFill>
                            <a:srgbClr val="1B1C1D"/>
                          </a:solidFill>
                          <a:effectLst/>
                          <a:latin typeface="Arial" panose="020B0604020202020204" pitchFamily="34" charset="0"/>
                        </a:rPr>
                        <a:t>Better balance of precision and recall.</a:t>
                      </a:r>
                      <a:endParaRPr lang="en-US">
                        <a:effectLst/>
                      </a:endParaRPr>
                    </a:p>
                  </a:txBody>
                  <a:tcPr marL="114300" marR="114300" marT="76200" marB="76200">
                    <a:lnL w="6350" cap="flat" cmpd="sng" algn="ctr">
                      <a:solidFill>
                        <a:srgbClr val="1B1C1D"/>
                      </a:solidFill>
                      <a:prstDash val="solid"/>
                      <a:round/>
                      <a:headEnd type="none" w="med" len="med"/>
                      <a:tailEnd type="none" w="med" len="med"/>
                    </a:lnL>
                    <a:lnR w="6350" cap="flat" cmpd="sng" algn="ctr">
                      <a:solidFill>
                        <a:srgbClr val="1B1C1D"/>
                      </a:solidFill>
                      <a:prstDash val="solid"/>
                      <a:round/>
                      <a:headEnd type="none" w="med" len="med"/>
                      <a:tailEnd type="none" w="med" len="med"/>
                    </a:lnR>
                    <a:lnT w="6350" cap="flat" cmpd="sng" algn="ctr">
                      <a:solidFill>
                        <a:srgbClr val="1B1C1D"/>
                      </a:solidFill>
                      <a:prstDash val="solid"/>
                      <a:round/>
                      <a:headEnd type="none" w="med" len="med"/>
                      <a:tailEnd type="none" w="med" len="med"/>
                    </a:lnT>
                    <a:lnB w="6350" cap="flat" cmpd="sng" algn="ctr">
                      <a:solidFill>
                        <a:srgbClr val="1B1C1D"/>
                      </a:solidFill>
                      <a:prstDash val="solid"/>
                      <a:round/>
                      <a:headEnd type="none" w="med" len="med"/>
                      <a:tailEnd type="none" w="med" len="med"/>
                    </a:lnB>
                    <a:noFill/>
                  </a:tcPr>
                </a:tc>
                <a:extLst>
                  <a:ext uri="{0D108BD9-81ED-4DB2-BD59-A6C34878D82A}">
                    <a16:rowId xmlns:a16="http://schemas.microsoft.com/office/drawing/2014/main" val="513912743"/>
                  </a:ext>
                </a:extLst>
              </a:tr>
              <a:tr h="817773">
                <a:tc>
                  <a:txBody>
                    <a:bodyPr/>
                    <a:lstStyle/>
                    <a:p>
                      <a:pPr rtl="0" fontAlgn="t">
                        <a:spcAft>
                          <a:spcPts val="2400"/>
                        </a:spcAft>
                        <a:buNone/>
                      </a:pPr>
                      <a:r>
                        <a:rPr lang="en-IN" sz="1100" b="1" i="0" u="none" strike="noStrike">
                          <a:solidFill>
                            <a:srgbClr val="1B1C1D"/>
                          </a:solidFill>
                          <a:effectLst/>
                          <a:latin typeface="Arial" panose="020B0604020202020204" pitchFamily="34" charset="0"/>
                        </a:rPr>
                        <a:t>Macro Avg AUC</a:t>
                      </a:r>
                      <a:endParaRPr lang="en-IN">
                        <a:effectLst/>
                      </a:endParaRPr>
                    </a:p>
                  </a:txBody>
                  <a:tcPr marL="114300" marR="114300" marT="76200" marB="76200">
                    <a:lnL w="6350" cap="flat" cmpd="sng" algn="ctr">
                      <a:solidFill>
                        <a:srgbClr val="1B1C1D"/>
                      </a:solidFill>
                      <a:prstDash val="solid"/>
                      <a:round/>
                      <a:headEnd type="none" w="med" len="med"/>
                      <a:tailEnd type="none" w="med" len="med"/>
                    </a:lnL>
                    <a:lnR w="6350" cap="flat" cmpd="sng" algn="ctr">
                      <a:solidFill>
                        <a:srgbClr val="1B1C1D"/>
                      </a:solidFill>
                      <a:prstDash val="solid"/>
                      <a:round/>
                      <a:headEnd type="none" w="med" len="med"/>
                      <a:tailEnd type="none" w="med" len="med"/>
                    </a:lnR>
                    <a:lnT w="6350" cap="flat" cmpd="sng" algn="ctr">
                      <a:solidFill>
                        <a:srgbClr val="1B1C1D"/>
                      </a:solidFill>
                      <a:prstDash val="solid"/>
                      <a:round/>
                      <a:headEnd type="none" w="med" len="med"/>
                      <a:tailEnd type="none" w="med" len="med"/>
                    </a:lnT>
                    <a:lnB w="6350" cap="flat" cmpd="sng" algn="ctr">
                      <a:solidFill>
                        <a:srgbClr val="1B1C1D"/>
                      </a:solidFill>
                      <a:prstDash val="solid"/>
                      <a:round/>
                      <a:headEnd type="none" w="med" len="med"/>
                      <a:tailEnd type="none" w="med" len="med"/>
                    </a:lnB>
                    <a:noFill/>
                  </a:tcPr>
                </a:tc>
                <a:tc>
                  <a:txBody>
                    <a:bodyPr/>
                    <a:lstStyle/>
                    <a:p>
                      <a:pPr rtl="0" fontAlgn="t">
                        <a:spcAft>
                          <a:spcPts val="2400"/>
                        </a:spcAft>
                        <a:buNone/>
                      </a:pPr>
                      <a:r>
                        <a:rPr lang="en-IN" sz="1100" b="1" i="0" u="none" strike="noStrike">
                          <a:solidFill>
                            <a:srgbClr val="1B1C1D"/>
                          </a:solidFill>
                          <a:effectLst/>
                          <a:latin typeface="Arial" panose="020B0604020202020204" pitchFamily="34" charset="0"/>
                        </a:rPr>
                        <a:t>0.99972</a:t>
                      </a:r>
                      <a:endParaRPr lang="en-IN">
                        <a:effectLst/>
                      </a:endParaRPr>
                    </a:p>
                  </a:txBody>
                  <a:tcPr marL="114300" marR="114300" marT="76200" marB="76200">
                    <a:lnL w="6350" cap="flat" cmpd="sng" algn="ctr">
                      <a:solidFill>
                        <a:srgbClr val="1B1C1D"/>
                      </a:solidFill>
                      <a:prstDash val="solid"/>
                      <a:round/>
                      <a:headEnd type="none" w="med" len="med"/>
                      <a:tailEnd type="none" w="med" len="med"/>
                    </a:lnL>
                    <a:lnR w="6350" cap="flat" cmpd="sng" algn="ctr">
                      <a:solidFill>
                        <a:srgbClr val="1B1C1D"/>
                      </a:solidFill>
                      <a:prstDash val="solid"/>
                      <a:round/>
                      <a:headEnd type="none" w="med" len="med"/>
                      <a:tailEnd type="none" w="med" len="med"/>
                    </a:lnR>
                    <a:lnT w="6350" cap="flat" cmpd="sng" algn="ctr">
                      <a:solidFill>
                        <a:srgbClr val="1B1C1D"/>
                      </a:solidFill>
                      <a:prstDash val="solid"/>
                      <a:round/>
                      <a:headEnd type="none" w="med" len="med"/>
                      <a:tailEnd type="none" w="med" len="med"/>
                    </a:lnT>
                    <a:lnB w="6350" cap="flat" cmpd="sng" algn="ctr">
                      <a:solidFill>
                        <a:srgbClr val="1B1C1D"/>
                      </a:solidFill>
                      <a:prstDash val="solid"/>
                      <a:round/>
                      <a:headEnd type="none" w="med" len="med"/>
                      <a:tailEnd type="none" w="med" len="med"/>
                    </a:lnB>
                    <a:noFill/>
                  </a:tcPr>
                </a:tc>
                <a:tc>
                  <a:txBody>
                    <a:bodyPr/>
                    <a:lstStyle/>
                    <a:p>
                      <a:pPr rtl="0" fontAlgn="t">
                        <a:spcAft>
                          <a:spcPts val="2400"/>
                        </a:spcAft>
                        <a:buNone/>
                      </a:pPr>
                      <a:r>
                        <a:rPr lang="en-IN" sz="1100" b="0" i="0" u="none" strike="noStrike">
                          <a:solidFill>
                            <a:srgbClr val="1B1C1D"/>
                          </a:solidFill>
                          <a:effectLst/>
                          <a:latin typeface="Arial" panose="020B0604020202020204" pitchFamily="34" charset="0"/>
                        </a:rPr>
                        <a:t>0.99970</a:t>
                      </a:r>
                      <a:endParaRPr lang="en-IN">
                        <a:effectLst/>
                      </a:endParaRPr>
                    </a:p>
                  </a:txBody>
                  <a:tcPr marL="114300" marR="114300" marT="76200" marB="76200">
                    <a:lnL w="6350" cap="flat" cmpd="sng" algn="ctr">
                      <a:solidFill>
                        <a:srgbClr val="1B1C1D"/>
                      </a:solidFill>
                      <a:prstDash val="solid"/>
                      <a:round/>
                      <a:headEnd type="none" w="med" len="med"/>
                      <a:tailEnd type="none" w="med" len="med"/>
                    </a:lnL>
                    <a:lnR w="6350" cap="flat" cmpd="sng" algn="ctr">
                      <a:solidFill>
                        <a:srgbClr val="1B1C1D"/>
                      </a:solidFill>
                      <a:prstDash val="solid"/>
                      <a:round/>
                      <a:headEnd type="none" w="med" len="med"/>
                      <a:tailEnd type="none" w="med" len="med"/>
                    </a:lnR>
                    <a:lnT w="6350" cap="flat" cmpd="sng" algn="ctr">
                      <a:solidFill>
                        <a:srgbClr val="1B1C1D"/>
                      </a:solidFill>
                      <a:prstDash val="solid"/>
                      <a:round/>
                      <a:headEnd type="none" w="med" len="med"/>
                      <a:tailEnd type="none" w="med" len="med"/>
                    </a:lnT>
                    <a:lnB w="6350" cap="flat" cmpd="sng" algn="ctr">
                      <a:solidFill>
                        <a:srgbClr val="1B1C1D"/>
                      </a:solidFill>
                      <a:prstDash val="solid"/>
                      <a:round/>
                      <a:headEnd type="none" w="med" len="med"/>
                      <a:tailEnd type="none" w="med" len="med"/>
                    </a:lnB>
                    <a:noFill/>
                  </a:tcPr>
                </a:tc>
                <a:tc>
                  <a:txBody>
                    <a:bodyPr/>
                    <a:lstStyle/>
                    <a:p>
                      <a:pPr rtl="0" fontAlgn="t">
                        <a:spcAft>
                          <a:spcPts val="2400"/>
                        </a:spcAft>
                        <a:buNone/>
                      </a:pPr>
                      <a:r>
                        <a:rPr lang="en-US" sz="1100" b="0" i="0" u="none" strike="noStrike" dirty="0">
                          <a:solidFill>
                            <a:srgbClr val="1B1C1D"/>
                          </a:solidFill>
                          <a:effectLst/>
                          <a:latin typeface="Arial" panose="020B0604020202020204" pitchFamily="34" charset="0"/>
                        </a:rPr>
                        <a:t>Both models excel at ranking predictions.</a:t>
                      </a:r>
                      <a:endParaRPr lang="en-US" dirty="0">
                        <a:effectLst/>
                      </a:endParaRPr>
                    </a:p>
                  </a:txBody>
                  <a:tcPr marL="114300" marR="114300" marT="76200" marB="76200">
                    <a:lnL w="6350" cap="flat" cmpd="sng" algn="ctr">
                      <a:solidFill>
                        <a:srgbClr val="1B1C1D"/>
                      </a:solidFill>
                      <a:prstDash val="solid"/>
                      <a:round/>
                      <a:headEnd type="none" w="med" len="med"/>
                      <a:tailEnd type="none" w="med" len="med"/>
                    </a:lnL>
                    <a:lnR w="6350" cap="flat" cmpd="sng" algn="ctr">
                      <a:solidFill>
                        <a:srgbClr val="1B1C1D"/>
                      </a:solidFill>
                      <a:prstDash val="solid"/>
                      <a:round/>
                      <a:headEnd type="none" w="med" len="med"/>
                      <a:tailEnd type="none" w="med" len="med"/>
                    </a:lnR>
                    <a:lnT w="6350" cap="flat" cmpd="sng" algn="ctr">
                      <a:solidFill>
                        <a:srgbClr val="1B1C1D"/>
                      </a:solidFill>
                      <a:prstDash val="solid"/>
                      <a:round/>
                      <a:headEnd type="none" w="med" len="med"/>
                      <a:tailEnd type="none" w="med" len="med"/>
                    </a:lnT>
                    <a:lnB w="6350" cap="flat" cmpd="sng" algn="ctr">
                      <a:solidFill>
                        <a:srgbClr val="1B1C1D"/>
                      </a:solidFill>
                      <a:prstDash val="solid"/>
                      <a:round/>
                      <a:headEnd type="none" w="med" len="med"/>
                      <a:tailEnd type="none" w="med" len="med"/>
                    </a:lnB>
                    <a:noFill/>
                  </a:tcPr>
                </a:tc>
                <a:extLst>
                  <a:ext uri="{0D108BD9-81ED-4DB2-BD59-A6C34878D82A}">
                    <a16:rowId xmlns:a16="http://schemas.microsoft.com/office/drawing/2014/main" val="41184811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1"/>
          <p:cNvSpPr txBox="1">
            <a:spLocks noGrp="1"/>
          </p:cNvSpPr>
          <p:nvPr>
            <p:ph type="title"/>
          </p:nvPr>
        </p:nvSpPr>
        <p:spPr>
          <a:xfrm>
            <a:off x="457200" y="116981"/>
            <a:ext cx="8229600" cy="1143000"/>
          </a:xfrm>
          <a:prstGeom prst="rect">
            <a:avLst/>
          </a:prstGeom>
          <a:noFill/>
          <a:ln>
            <a:noFill/>
          </a:ln>
        </p:spPr>
        <p:txBody>
          <a:bodyPr spcFirstLastPara="1" wrap="square" lIns="91425" tIns="45700" rIns="91425" bIns="45700" anchor="ctr" anchorCtr="0">
            <a:normAutofit fontScale="90000"/>
          </a:bodyPr>
          <a:lstStyle/>
          <a:p>
            <a:pPr>
              <a:buSzPct val="111000"/>
            </a:pPr>
            <a:r>
              <a:rPr lang="en-US" dirty="0"/>
              <a:t>      </a:t>
            </a:r>
            <a:br>
              <a:rPr lang="en-US" dirty="0"/>
            </a:br>
            <a:r>
              <a:rPr lang="en-US" dirty="0"/>
              <a:t>        </a:t>
            </a:r>
            <a:r>
              <a:rPr lang="en-IN" dirty="0"/>
              <a:t>Result Interpretation</a:t>
            </a:r>
            <a:endParaRPr dirty="0">
              <a:latin typeface="Times New Roman"/>
              <a:ea typeface="Times New Roman"/>
              <a:cs typeface="Times New Roman"/>
              <a:sym typeface="Times New Roman"/>
            </a:endParaRPr>
          </a:p>
        </p:txBody>
      </p:sp>
      <p:pic>
        <p:nvPicPr>
          <p:cNvPr id="164" name="Google Shape;164;p21"/>
          <p:cNvPicPr preferRelativeResize="0"/>
          <p:nvPr/>
        </p:nvPicPr>
        <p:blipFill rotWithShape="1">
          <a:blip r:embed="rId3">
            <a:alphaModFix/>
          </a:blip>
          <a:srcRect/>
          <a:stretch/>
        </p:blipFill>
        <p:spPr>
          <a:xfrm>
            <a:off x="228600" y="553353"/>
            <a:ext cx="2237740" cy="755015"/>
          </a:xfrm>
          <a:prstGeom prst="rect">
            <a:avLst/>
          </a:prstGeom>
          <a:noFill/>
          <a:ln>
            <a:noFill/>
          </a:ln>
        </p:spPr>
      </p:pic>
      <p:sp>
        <p:nvSpPr>
          <p:cNvPr id="165" name="Google Shape;165;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11</a:t>
            </a:fld>
            <a:endParaRPr/>
          </a:p>
        </p:txBody>
      </p:sp>
      <p:sp>
        <p:nvSpPr>
          <p:cNvPr id="166" name="Google Shape;166;p21"/>
          <p:cNvSpPr txBox="1"/>
          <p:nvPr/>
        </p:nvSpPr>
        <p:spPr>
          <a:xfrm>
            <a:off x="546725" y="1520450"/>
            <a:ext cx="7493700" cy="2015906"/>
          </a:xfrm>
          <a:prstGeom prst="rect">
            <a:avLst/>
          </a:prstGeom>
          <a:noFill/>
          <a:ln>
            <a:noFill/>
          </a:ln>
        </p:spPr>
        <p:txBody>
          <a:bodyPr spcFirstLastPara="1" wrap="square" lIns="91425" tIns="91425" rIns="91425" bIns="91425" anchor="t" anchorCtr="0">
            <a:spAutoFit/>
          </a:bodyPr>
          <a:lstStyle/>
          <a:p>
            <a:r>
              <a:rPr lang="en-US" b="1" dirty="0"/>
              <a:t>Key Insight: Feature Quality &gt; Feature Quantity.</a:t>
            </a:r>
          </a:p>
          <a:p>
            <a:endParaRPr lang="en-US" dirty="0"/>
          </a:p>
          <a:p>
            <a:pPr marL="171450" indent="-171450" fontAlgn="base">
              <a:buFont typeface="Arial" panose="020B0604020202020204" pitchFamily="34" charset="0"/>
              <a:buChar char="•"/>
            </a:pPr>
            <a:r>
              <a:rPr lang="en-US" sz="1100" dirty="0"/>
              <a:t>Our Review 2 model (PCA+SVM) applied PCA to 784 raw pixels to get 50 features, achieving 97.86% accuracy.</a:t>
            </a:r>
          </a:p>
          <a:p>
            <a:pPr marL="171450" indent="-171450" fontAlgn="base">
              <a:buFont typeface="Arial" panose="020B0604020202020204" pitchFamily="34" charset="0"/>
              <a:buChar char="•"/>
            </a:pPr>
            <a:r>
              <a:rPr lang="en-US" sz="1100" dirty="0"/>
              <a:t>Our Review 3 model (CNN+PCA+SVM) also uses 50 final features, but it derives them from a 128-dim CNN-generated vector. This resulted in 99.25% accuracy.</a:t>
            </a:r>
          </a:p>
          <a:p>
            <a:pPr marL="171450" indent="-171450">
              <a:buFont typeface="Arial" panose="020B0604020202020204" pitchFamily="34" charset="0"/>
              <a:buChar char="•"/>
            </a:pPr>
            <a:r>
              <a:rPr lang="en-US" sz="1100" dirty="0"/>
              <a:t>This is an "apples-to-apples" comparison in terms of final feature dimensions. The ~1.4% accuracy jump proves that the </a:t>
            </a:r>
            <a:r>
              <a:rPr lang="en-US" sz="1100" b="1" dirty="0"/>
              <a:t>quality</a:t>
            </a:r>
            <a:r>
              <a:rPr lang="en-US" sz="1100" dirty="0"/>
              <a:t> of the features learned by the CNN is vastly superior to the linear features captured by PCA on raw pixels.</a:t>
            </a:r>
            <a:endParaRPr lang="en-US" sz="1100" dirty="0">
              <a:solidFill>
                <a:schemeClr val="dk1"/>
              </a:solidFill>
            </a:endParaRPr>
          </a:p>
          <a:p>
            <a:r>
              <a:rPr lang="en-US" sz="1100" dirty="0">
                <a:solidFill>
                  <a:schemeClr val="dk1"/>
                </a:solidFill>
              </a:rPr>
              <a:t>                         </a:t>
            </a:r>
            <a:r>
              <a:rPr lang="en-US" b="1" dirty="0">
                <a:solidFill>
                  <a:schemeClr val="dk1"/>
                </a:solidFill>
              </a:rPr>
              <a:t>ONLY SVM                                                                                CNN + SVM </a:t>
            </a:r>
          </a:p>
          <a:p>
            <a:pPr marL="171450" indent="-171450">
              <a:buFont typeface="Arial" panose="020B0604020202020204" pitchFamily="34" charset="0"/>
              <a:buChar char="•"/>
            </a:pPr>
            <a:endParaRPr lang="en-US" sz="1100" dirty="0">
              <a:solidFill>
                <a:schemeClr val="dk1"/>
              </a:solidFill>
            </a:endParaRPr>
          </a:p>
        </p:txBody>
      </p:sp>
      <p:pic>
        <p:nvPicPr>
          <p:cNvPr id="2" name="Picture 4">
            <a:extLst>
              <a:ext uri="{FF2B5EF4-FFF2-40B4-BE49-F238E27FC236}">
                <a16:creationId xmlns:a16="http://schemas.microsoft.com/office/drawing/2014/main" id="{00980008-B2BF-BF1D-47B7-9A69873915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36191" y="3627184"/>
            <a:ext cx="4707809" cy="323081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a:extLst>
              <a:ext uri="{FF2B5EF4-FFF2-40B4-BE49-F238E27FC236}">
                <a16:creationId xmlns:a16="http://schemas.microsoft.com/office/drawing/2014/main" id="{FBEBE978-4447-AB9D-3554-6FAF9FE6CEB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3627184"/>
            <a:ext cx="4572000" cy="323081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8E59816D-AE5A-A8C7-E71B-8A73B0AEC8E7}"/>
            </a:ext>
          </a:extLst>
        </p:cNvPr>
        <p:cNvGrpSpPr/>
        <p:nvPr/>
      </p:nvGrpSpPr>
      <p:grpSpPr>
        <a:xfrm>
          <a:off x="0" y="0"/>
          <a:ext cx="0" cy="0"/>
          <a:chOff x="0" y="0"/>
          <a:chExt cx="0" cy="0"/>
        </a:xfrm>
      </p:grpSpPr>
      <p:sp>
        <p:nvSpPr>
          <p:cNvPr id="163" name="Google Shape;163;p21">
            <a:extLst>
              <a:ext uri="{FF2B5EF4-FFF2-40B4-BE49-F238E27FC236}">
                <a16:creationId xmlns:a16="http://schemas.microsoft.com/office/drawing/2014/main" id="{E4FBC3A9-8155-1EA1-9513-A3262C6559D9}"/>
              </a:ext>
            </a:extLst>
          </p:cNvPr>
          <p:cNvSpPr txBox="1">
            <a:spLocks noGrp="1"/>
          </p:cNvSpPr>
          <p:nvPr>
            <p:ph type="title"/>
          </p:nvPr>
        </p:nvSpPr>
        <p:spPr>
          <a:xfrm>
            <a:off x="457200" y="116981"/>
            <a:ext cx="8229600" cy="1143000"/>
          </a:xfrm>
          <a:prstGeom prst="rect">
            <a:avLst/>
          </a:prstGeom>
          <a:noFill/>
          <a:ln>
            <a:noFill/>
          </a:ln>
        </p:spPr>
        <p:txBody>
          <a:bodyPr spcFirstLastPara="1" wrap="square" lIns="91425" tIns="45700" rIns="91425" bIns="45700" anchor="ctr" anchorCtr="0">
            <a:normAutofit fontScale="90000"/>
          </a:bodyPr>
          <a:lstStyle/>
          <a:p>
            <a:pPr>
              <a:buSzPct val="111000"/>
            </a:pPr>
            <a:r>
              <a:rPr lang="en-US" dirty="0"/>
              <a:t>      </a:t>
            </a:r>
            <a:br>
              <a:rPr lang="en-US" dirty="0"/>
            </a:br>
            <a:r>
              <a:rPr lang="en-US" dirty="0"/>
              <a:t>        </a:t>
            </a:r>
            <a:r>
              <a:rPr lang="en-IN" dirty="0"/>
              <a:t>Result Interpretation</a:t>
            </a:r>
            <a:endParaRPr dirty="0">
              <a:latin typeface="Times New Roman"/>
              <a:ea typeface="Times New Roman"/>
              <a:cs typeface="Times New Roman"/>
              <a:sym typeface="Times New Roman"/>
            </a:endParaRPr>
          </a:p>
        </p:txBody>
      </p:sp>
      <p:pic>
        <p:nvPicPr>
          <p:cNvPr id="164" name="Google Shape;164;p21">
            <a:extLst>
              <a:ext uri="{FF2B5EF4-FFF2-40B4-BE49-F238E27FC236}">
                <a16:creationId xmlns:a16="http://schemas.microsoft.com/office/drawing/2014/main" id="{856D9181-C492-C94E-FBF7-FE5727C2AEE5}"/>
              </a:ext>
            </a:extLst>
          </p:cNvPr>
          <p:cNvPicPr preferRelativeResize="0"/>
          <p:nvPr/>
        </p:nvPicPr>
        <p:blipFill rotWithShape="1">
          <a:blip r:embed="rId3">
            <a:alphaModFix/>
          </a:blip>
          <a:srcRect/>
          <a:stretch/>
        </p:blipFill>
        <p:spPr>
          <a:xfrm>
            <a:off x="228600" y="553353"/>
            <a:ext cx="2237740" cy="755015"/>
          </a:xfrm>
          <a:prstGeom prst="rect">
            <a:avLst/>
          </a:prstGeom>
          <a:noFill/>
          <a:ln>
            <a:noFill/>
          </a:ln>
        </p:spPr>
      </p:pic>
      <p:sp>
        <p:nvSpPr>
          <p:cNvPr id="165" name="Google Shape;165;p21">
            <a:extLst>
              <a:ext uri="{FF2B5EF4-FFF2-40B4-BE49-F238E27FC236}">
                <a16:creationId xmlns:a16="http://schemas.microsoft.com/office/drawing/2014/main" id="{12FEA965-B8DF-3978-AF5C-235F88711412}"/>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12</a:t>
            </a:fld>
            <a:endParaRPr/>
          </a:p>
        </p:txBody>
      </p:sp>
      <p:sp>
        <p:nvSpPr>
          <p:cNvPr id="166" name="Google Shape;166;p21">
            <a:extLst>
              <a:ext uri="{FF2B5EF4-FFF2-40B4-BE49-F238E27FC236}">
                <a16:creationId xmlns:a16="http://schemas.microsoft.com/office/drawing/2014/main" id="{5C6B4937-65A3-1FD9-91E0-0BA2A54857A9}"/>
              </a:ext>
            </a:extLst>
          </p:cNvPr>
          <p:cNvSpPr txBox="1"/>
          <p:nvPr/>
        </p:nvSpPr>
        <p:spPr>
          <a:xfrm>
            <a:off x="546725" y="1520450"/>
            <a:ext cx="7493700" cy="569356"/>
          </a:xfrm>
          <a:prstGeom prst="rect">
            <a:avLst/>
          </a:prstGeom>
          <a:noFill/>
          <a:ln>
            <a:noFill/>
          </a:ln>
        </p:spPr>
        <p:txBody>
          <a:bodyPr spcFirstLastPara="1" wrap="square" lIns="91425" tIns="91425" rIns="91425" bIns="91425" anchor="t" anchorCtr="0">
            <a:spAutoFit/>
          </a:bodyPr>
          <a:lstStyle/>
          <a:p>
            <a:r>
              <a:rPr lang="en-US" b="1" dirty="0">
                <a:solidFill>
                  <a:schemeClr val="dk1"/>
                </a:solidFill>
              </a:rPr>
              <a:t>           ONLY SVM                                                                                CNN + SVM </a:t>
            </a:r>
          </a:p>
          <a:p>
            <a:endParaRPr lang="en-US" sz="1100" dirty="0">
              <a:solidFill>
                <a:schemeClr val="dk1"/>
              </a:solidFill>
            </a:endParaRPr>
          </a:p>
        </p:txBody>
      </p:sp>
      <p:pic>
        <p:nvPicPr>
          <p:cNvPr id="2060" name="Picture 12">
            <a:extLst>
              <a:ext uri="{FF2B5EF4-FFF2-40B4-BE49-F238E27FC236}">
                <a16:creationId xmlns:a16="http://schemas.microsoft.com/office/drawing/2014/main" id="{8B6D521F-ADAD-7367-5718-A04DBADFED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926348"/>
            <a:ext cx="4436191" cy="2036837"/>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a:extLst>
              <a:ext uri="{FF2B5EF4-FFF2-40B4-BE49-F238E27FC236}">
                <a16:creationId xmlns:a16="http://schemas.microsoft.com/office/drawing/2014/main" id="{463B430A-3934-E658-BA29-0B7BE3CE47B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93574" y="1877961"/>
            <a:ext cx="4850425" cy="2085224"/>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5FDBA086-D687-4EAB-5CF7-43D53E6FB74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 y="3963185"/>
            <a:ext cx="4436191" cy="289481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9C8E1EB6-29E1-076A-0886-A656D013376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93573" y="3963185"/>
            <a:ext cx="4850426" cy="28948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79404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48A042F9-778E-2A99-52BA-2ED305B2851E}"/>
            </a:ext>
          </a:extLst>
        </p:cNvPr>
        <p:cNvGrpSpPr/>
        <p:nvPr/>
      </p:nvGrpSpPr>
      <p:grpSpPr>
        <a:xfrm>
          <a:off x="0" y="0"/>
          <a:ext cx="0" cy="0"/>
          <a:chOff x="0" y="0"/>
          <a:chExt cx="0" cy="0"/>
        </a:xfrm>
      </p:grpSpPr>
      <p:sp>
        <p:nvSpPr>
          <p:cNvPr id="163" name="Google Shape;163;p21">
            <a:extLst>
              <a:ext uri="{FF2B5EF4-FFF2-40B4-BE49-F238E27FC236}">
                <a16:creationId xmlns:a16="http://schemas.microsoft.com/office/drawing/2014/main" id="{73F367CE-F24D-32FB-D8C5-2D7778DE4656}"/>
              </a:ext>
            </a:extLst>
          </p:cNvPr>
          <p:cNvSpPr txBox="1">
            <a:spLocks noGrp="1"/>
          </p:cNvSpPr>
          <p:nvPr>
            <p:ph type="title"/>
          </p:nvPr>
        </p:nvSpPr>
        <p:spPr>
          <a:xfrm>
            <a:off x="457200" y="116981"/>
            <a:ext cx="8229600" cy="1143000"/>
          </a:xfrm>
          <a:prstGeom prst="rect">
            <a:avLst/>
          </a:prstGeom>
          <a:noFill/>
          <a:ln>
            <a:noFill/>
          </a:ln>
        </p:spPr>
        <p:txBody>
          <a:bodyPr spcFirstLastPara="1" wrap="square" lIns="91425" tIns="45700" rIns="91425" bIns="45700" anchor="ctr" anchorCtr="0">
            <a:normAutofit fontScale="90000"/>
          </a:bodyPr>
          <a:lstStyle/>
          <a:p>
            <a:pPr>
              <a:buSzPct val="111000"/>
            </a:pPr>
            <a:r>
              <a:rPr lang="en-US" dirty="0"/>
              <a:t>      </a:t>
            </a:r>
            <a:br>
              <a:rPr lang="en-US" dirty="0"/>
            </a:br>
            <a:r>
              <a:rPr lang="en-US" dirty="0"/>
              <a:t>        </a:t>
            </a:r>
            <a:r>
              <a:rPr lang="en-IN" dirty="0"/>
              <a:t>Result Interpretation</a:t>
            </a:r>
            <a:endParaRPr dirty="0">
              <a:latin typeface="Times New Roman"/>
              <a:ea typeface="Times New Roman"/>
              <a:cs typeface="Times New Roman"/>
              <a:sym typeface="Times New Roman"/>
            </a:endParaRPr>
          </a:p>
        </p:txBody>
      </p:sp>
      <p:pic>
        <p:nvPicPr>
          <p:cNvPr id="164" name="Google Shape;164;p21">
            <a:extLst>
              <a:ext uri="{FF2B5EF4-FFF2-40B4-BE49-F238E27FC236}">
                <a16:creationId xmlns:a16="http://schemas.microsoft.com/office/drawing/2014/main" id="{FEFB8D08-F5A9-971A-9B3C-976A81B053DF}"/>
              </a:ext>
            </a:extLst>
          </p:cNvPr>
          <p:cNvPicPr preferRelativeResize="0"/>
          <p:nvPr/>
        </p:nvPicPr>
        <p:blipFill rotWithShape="1">
          <a:blip r:embed="rId3">
            <a:alphaModFix/>
          </a:blip>
          <a:srcRect/>
          <a:stretch/>
        </p:blipFill>
        <p:spPr>
          <a:xfrm>
            <a:off x="228600" y="553353"/>
            <a:ext cx="2237740" cy="755015"/>
          </a:xfrm>
          <a:prstGeom prst="rect">
            <a:avLst/>
          </a:prstGeom>
          <a:noFill/>
          <a:ln>
            <a:noFill/>
          </a:ln>
        </p:spPr>
      </p:pic>
      <p:sp>
        <p:nvSpPr>
          <p:cNvPr id="165" name="Google Shape;165;p21">
            <a:extLst>
              <a:ext uri="{FF2B5EF4-FFF2-40B4-BE49-F238E27FC236}">
                <a16:creationId xmlns:a16="http://schemas.microsoft.com/office/drawing/2014/main" id="{6CDE9650-0259-03B9-B34A-0F4CAC445319}"/>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13</a:t>
            </a:fld>
            <a:endParaRPr/>
          </a:p>
        </p:txBody>
      </p:sp>
      <p:sp>
        <p:nvSpPr>
          <p:cNvPr id="166" name="Google Shape;166;p21">
            <a:extLst>
              <a:ext uri="{FF2B5EF4-FFF2-40B4-BE49-F238E27FC236}">
                <a16:creationId xmlns:a16="http://schemas.microsoft.com/office/drawing/2014/main" id="{B94E53DD-6492-AB53-9774-C48E6DB37910}"/>
              </a:ext>
            </a:extLst>
          </p:cNvPr>
          <p:cNvSpPr txBox="1"/>
          <p:nvPr/>
        </p:nvSpPr>
        <p:spPr>
          <a:xfrm>
            <a:off x="546725" y="1520450"/>
            <a:ext cx="7493700" cy="569356"/>
          </a:xfrm>
          <a:prstGeom prst="rect">
            <a:avLst/>
          </a:prstGeom>
          <a:noFill/>
          <a:ln>
            <a:noFill/>
          </a:ln>
        </p:spPr>
        <p:txBody>
          <a:bodyPr spcFirstLastPara="1" wrap="square" lIns="91425" tIns="91425" rIns="91425" bIns="91425" anchor="t" anchorCtr="0">
            <a:spAutoFit/>
          </a:bodyPr>
          <a:lstStyle/>
          <a:p>
            <a:r>
              <a:rPr lang="en-US" b="1" dirty="0">
                <a:solidFill>
                  <a:schemeClr val="dk1"/>
                </a:solidFill>
              </a:rPr>
              <a:t>           ONLY SVM                                                                                CNN + SVM </a:t>
            </a:r>
          </a:p>
          <a:p>
            <a:endParaRPr lang="en-US" sz="1100" dirty="0">
              <a:solidFill>
                <a:schemeClr val="dk1"/>
              </a:solidFill>
            </a:endParaRPr>
          </a:p>
        </p:txBody>
      </p:sp>
      <p:pic>
        <p:nvPicPr>
          <p:cNvPr id="2056" name="Picture 8">
            <a:extLst>
              <a:ext uri="{FF2B5EF4-FFF2-40B4-BE49-F238E27FC236}">
                <a16:creationId xmlns:a16="http://schemas.microsoft.com/office/drawing/2014/main" id="{4460FC28-B803-6B77-9399-25556EF6C2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36191" y="1838632"/>
            <a:ext cx="4707809" cy="2015904"/>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a:extLst>
              <a:ext uri="{FF2B5EF4-FFF2-40B4-BE49-F238E27FC236}">
                <a16:creationId xmlns:a16="http://schemas.microsoft.com/office/drawing/2014/main" id="{C6DE820E-F16E-2CA0-4F3D-759C9E5170B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1838631"/>
            <a:ext cx="4436191" cy="2015904"/>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a:extLst>
              <a:ext uri="{FF2B5EF4-FFF2-40B4-BE49-F238E27FC236}">
                <a16:creationId xmlns:a16="http://schemas.microsoft.com/office/drawing/2014/main" id="{05CDBF6B-B1BF-897F-0134-4E66EA8CE48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3852549"/>
            <a:ext cx="4436191" cy="3003462"/>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a:extLst>
              <a:ext uri="{FF2B5EF4-FFF2-40B4-BE49-F238E27FC236}">
                <a16:creationId xmlns:a16="http://schemas.microsoft.com/office/drawing/2014/main" id="{1194957B-2326-1C50-891D-0F41876B598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36190" y="3925307"/>
            <a:ext cx="4707809" cy="29326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45926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2"/>
          <p:cNvSpPr txBox="1">
            <a:spLocks noGrp="1"/>
          </p:cNvSpPr>
          <p:nvPr>
            <p:ph type="title"/>
          </p:nvPr>
        </p:nvSpPr>
        <p:spPr>
          <a:xfrm>
            <a:off x="457200" y="116981"/>
            <a:ext cx="8229600" cy="1143000"/>
          </a:xfrm>
          <a:prstGeom prst="rect">
            <a:avLst/>
          </a:prstGeom>
          <a:noFill/>
          <a:ln>
            <a:noFill/>
          </a:ln>
        </p:spPr>
        <p:txBody>
          <a:bodyPr spcFirstLastPara="1" wrap="square" lIns="91425" tIns="45700" rIns="91425" bIns="45700" anchor="ctr" anchorCtr="0">
            <a:normAutofit fontScale="90000"/>
          </a:bodyPr>
          <a:lstStyle/>
          <a:p>
            <a:pPr lvl="0">
              <a:buSzPct val="111000"/>
            </a:pPr>
            <a:r>
              <a:rPr lang="en-US" dirty="0"/>
              <a:t>      </a:t>
            </a:r>
            <a:br>
              <a:rPr lang="en-US" dirty="0"/>
            </a:br>
            <a:r>
              <a:rPr lang="en-US" dirty="0"/>
              <a:t>    </a:t>
            </a:r>
            <a:r>
              <a:rPr lang="en-IN" dirty="0"/>
              <a:t>Future Enhancement</a:t>
            </a:r>
            <a:endParaRPr dirty="0">
              <a:latin typeface="Times New Roman"/>
              <a:ea typeface="Times New Roman"/>
              <a:cs typeface="Times New Roman"/>
              <a:sym typeface="Times New Roman"/>
            </a:endParaRPr>
          </a:p>
        </p:txBody>
      </p:sp>
      <p:pic>
        <p:nvPicPr>
          <p:cNvPr id="173" name="Google Shape;173;p22"/>
          <p:cNvPicPr preferRelativeResize="0"/>
          <p:nvPr/>
        </p:nvPicPr>
        <p:blipFill rotWithShape="1">
          <a:blip r:embed="rId3">
            <a:alphaModFix/>
          </a:blip>
          <a:srcRect/>
          <a:stretch/>
        </p:blipFill>
        <p:spPr>
          <a:xfrm>
            <a:off x="228600" y="553353"/>
            <a:ext cx="2237740" cy="755015"/>
          </a:xfrm>
          <a:prstGeom prst="rect">
            <a:avLst/>
          </a:prstGeom>
          <a:noFill/>
          <a:ln>
            <a:noFill/>
          </a:ln>
        </p:spPr>
      </p:pic>
      <p:sp>
        <p:nvSpPr>
          <p:cNvPr id="174" name="Google Shape;174;p22"/>
          <p:cNvSpPr txBox="1">
            <a:spLocks noGrp="1"/>
          </p:cNvSpPr>
          <p:nvPr>
            <p:ph type="sldNum" idx="12"/>
          </p:nvPr>
        </p:nvSpPr>
        <p:spPr>
          <a:xfrm>
            <a:off x="6553200" y="649290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14</a:t>
            </a:fld>
            <a:endParaRPr/>
          </a:p>
        </p:txBody>
      </p:sp>
      <p:sp>
        <p:nvSpPr>
          <p:cNvPr id="175" name="Google Shape;175;p22"/>
          <p:cNvSpPr txBox="1"/>
          <p:nvPr/>
        </p:nvSpPr>
        <p:spPr>
          <a:xfrm>
            <a:off x="825150" y="1696353"/>
            <a:ext cx="7493700" cy="2985402"/>
          </a:xfrm>
          <a:prstGeom prst="rect">
            <a:avLst/>
          </a:prstGeom>
          <a:noFill/>
          <a:ln>
            <a:noFill/>
          </a:ln>
        </p:spPr>
        <p:txBody>
          <a:bodyPr spcFirstLastPara="1" wrap="square" lIns="91425" tIns="91425" rIns="91425" bIns="91425" anchor="t" anchorCtr="0">
            <a:spAutoFit/>
          </a:bodyPr>
          <a:lstStyle/>
          <a:p>
            <a:r>
              <a:rPr lang="en-US" dirty="0"/>
              <a:t>While we have achieved high accuracy on MNIST, the original project goals included real-world robustness.</a:t>
            </a:r>
          </a:p>
          <a:p>
            <a:endParaRPr lang="en-US" dirty="0"/>
          </a:p>
          <a:p>
            <a:pPr marL="171450" indent="-171450" fontAlgn="base">
              <a:buFont typeface="Arial" panose="020B0604020202020204" pitchFamily="34" charset="0"/>
              <a:buChar char="•"/>
            </a:pPr>
            <a:r>
              <a:rPr lang="en-US" b="1" dirty="0"/>
              <a:t>Enhance Real-World Generalization:</a:t>
            </a:r>
            <a:r>
              <a:rPr lang="en-US" dirty="0"/>
              <a:t> Train and test the CNN+SVM model on more complex, noisy, and scanned document datasets (beyond MNIST).</a:t>
            </a:r>
          </a:p>
          <a:p>
            <a:pPr marL="171450" indent="-171450" fontAlgn="base">
              <a:buFont typeface="Arial" panose="020B0604020202020204" pitchFamily="34" charset="0"/>
              <a:buChar char="•"/>
            </a:pPr>
            <a:r>
              <a:rPr lang="en-US" b="1" dirty="0"/>
              <a:t>Handle Connected Digits:</a:t>
            </a:r>
            <a:r>
              <a:rPr lang="en-US" dirty="0"/>
              <a:t> Evolve the architecture from single-digit recognition to a segmentation-free model (e.g., using a CNN-RNN structure) to recognize overlapping or connected digit strings.</a:t>
            </a:r>
          </a:p>
          <a:p>
            <a:pPr marL="171450" indent="-171450" fontAlgn="base">
              <a:buFont typeface="Arial" panose="020B0604020202020204" pitchFamily="34" charset="0"/>
              <a:buChar char="•"/>
            </a:pPr>
            <a:r>
              <a:rPr lang="en-US" b="1" dirty="0"/>
              <a:t>Expand to Multilingual Characters:</a:t>
            </a:r>
            <a:r>
              <a:rPr lang="en-US" dirty="0"/>
              <a:t> Adapt the CNN feature extractor to recognize handwritten characters from at least one additional language, as planned in the initial objectives.</a:t>
            </a:r>
          </a:p>
          <a:p>
            <a:pPr marL="171450" indent="-171450">
              <a:buFont typeface="Arial" panose="020B0604020202020204" pitchFamily="34" charset="0"/>
              <a:buChar char="•"/>
            </a:pPr>
            <a:r>
              <a:rPr lang="en-US" b="1" dirty="0"/>
              <a:t>Real-Time Deployment:</a:t>
            </a:r>
            <a:r>
              <a:rPr lang="en-US" dirty="0"/>
              <a:t> Package the trained CNN extractor, PCA transformer, and SVM classifier into a deployable API or a simple web application for real-world use.</a:t>
            </a:r>
            <a:endParaRPr b="1" dirty="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3"/>
          <p:cNvSpPr txBox="1">
            <a:spLocks noGrp="1"/>
          </p:cNvSpPr>
          <p:nvPr>
            <p:ph type="title"/>
          </p:nvPr>
        </p:nvSpPr>
        <p:spPr>
          <a:xfrm>
            <a:off x="694267" y="50557"/>
            <a:ext cx="8229600" cy="1143000"/>
          </a:xfrm>
          <a:prstGeom prst="rect">
            <a:avLst/>
          </a:prstGeom>
          <a:noFill/>
          <a:ln>
            <a:noFill/>
          </a:ln>
        </p:spPr>
        <p:txBody>
          <a:bodyPr spcFirstLastPara="1" wrap="square" lIns="91425" tIns="45700" rIns="91425" bIns="45700" anchor="ctr" anchorCtr="0">
            <a:normAutofit/>
          </a:bodyPr>
          <a:lstStyle/>
          <a:p>
            <a:pPr lvl="0">
              <a:buSzPts val="4884"/>
            </a:pPr>
            <a:r>
              <a:rPr lang="en-IN" dirty="0"/>
              <a:t>Conclusion</a:t>
            </a:r>
            <a:endParaRPr dirty="0">
              <a:latin typeface="Times New Roman"/>
              <a:ea typeface="Times New Roman"/>
              <a:cs typeface="Times New Roman"/>
              <a:sym typeface="Times New Roman"/>
            </a:endParaRPr>
          </a:p>
        </p:txBody>
      </p:sp>
      <p:pic>
        <p:nvPicPr>
          <p:cNvPr id="182" name="Google Shape;182;p23"/>
          <p:cNvPicPr preferRelativeResize="0"/>
          <p:nvPr/>
        </p:nvPicPr>
        <p:blipFill rotWithShape="1">
          <a:blip r:embed="rId3">
            <a:alphaModFix/>
          </a:blip>
          <a:srcRect/>
          <a:stretch/>
        </p:blipFill>
        <p:spPr>
          <a:xfrm>
            <a:off x="220133" y="321469"/>
            <a:ext cx="2237740" cy="755015"/>
          </a:xfrm>
          <a:prstGeom prst="rect">
            <a:avLst/>
          </a:prstGeom>
          <a:noFill/>
          <a:ln>
            <a:noFill/>
          </a:ln>
        </p:spPr>
      </p:pic>
      <p:sp>
        <p:nvSpPr>
          <p:cNvPr id="183" name="Google Shape;183;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15</a:t>
            </a:fld>
            <a:endParaRPr/>
          </a:p>
        </p:txBody>
      </p:sp>
      <p:sp>
        <p:nvSpPr>
          <p:cNvPr id="185" name="Google Shape;185;p23"/>
          <p:cNvSpPr txBox="1"/>
          <p:nvPr/>
        </p:nvSpPr>
        <p:spPr>
          <a:xfrm>
            <a:off x="694267" y="1409329"/>
            <a:ext cx="7842000" cy="4893617"/>
          </a:xfrm>
          <a:prstGeom prst="rect">
            <a:avLst/>
          </a:prstGeom>
          <a:noFill/>
          <a:ln>
            <a:noFill/>
          </a:ln>
        </p:spPr>
        <p:txBody>
          <a:bodyPr spcFirstLastPara="1" wrap="square" lIns="91425" tIns="91425" rIns="91425" bIns="91425" anchor="t" anchorCtr="0">
            <a:spAutoFit/>
          </a:bodyPr>
          <a:lstStyle/>
          <a:p>
            <a:r>
              <a:rPr lang="en-US" dirty="0"/>
              <a:t>Our journey began with a simple yet powerful idea — leveraging classical machine learning for handwritten digit recognition.</a:t>
            </a:r>
          </a:p>
          <a:p>
            <a:endParaRPr lang="en-US" sz="1200" dirty="0"/>
          </a:p>
          <a:p>
            <a:pPr marL="285750" indent="-285750" fontAlgn="base">
              <a:buFont typeface="Arial" panose="020B0604020202020204" pitchFamily="34" charset="0"/>
              <a:buChar char="•"/>
            </a:pPr>
            <a:r>
              <a:rPr lang="en-US" b="1" dirty="0"/>
              <a:t>Review 1:</a:t>
            </a:r>
            <a:r>
              <a:rPr lang="en-US" dirty="0"/>
              <a:t> Introduced Support Vector Machines (SVM) as a robust baseline for digit classification.</a:t>
            </a:r>
            <a:br>
              <a:rPr lang="en-US" dirty="0"/>
            </a:br>
            <a:br>
              <a:rPr lang="en-US" dirty="0"/>
            </a:br>
            <a:endParaRPr lang="en-US" dirty="0"/>
          </a:p>
          <a:p>
            <a:pPr marL="285750" indent="-285750" fontAlgn="base">
              <a:buFont typeface="Arial" panose="020B0604020202020204" pitchFamily="34" charset="0"/>
              <a:buChar char="•"/>
            </a:pPr>
            <a:r>
              <a:rPr lang="en-US" b="1" dirty="0"/>
              <a:t>Review 2:</a:t>
            </a:r>
            <a:r>
              <a:rPr lang="en-US" dirty="0"/>
              <a:t> Optimized performance using a PCA + SVM pipeline, achieving </a:t>
            </a:r>
            <a:r>
              <a:rPr lang="en-US" b="1" dirty="0"/>
              <a:t>97.86% accuracy</a:t>
            </a:r>
            <a:r>
              <a:rPr lang="en-US" dirty="0"/>
              <a:t> through dimensionality reduction.</a:t>
            </a:r>
            <a:br>
              <a:rPr lang="en-US" dirty="0"/>
            </a:br>
            <a:br>
              <a:rPr lang="en-US" dirty="0"/>
            </a:br>
            <a:endParaRPr lang="en-US" dirty="0"/>
          </a:p>
          <a:p>
            <a:pPr marL="285750" indent="-285750" fontAlgn="base">
              <a:buFont typeface="Arial" panose="020B0604020202020204" pitchFamily="34" charset="0"/>
              <a:buChar char="•"/>
            </a:pPr>
            <a:r>
              <a:rPr lang="en-US" b="1" dirty="0"/>
              <a:t>Review 3:</a:t>
            </a:r>
            <a:r>
              <a:rPr lang="en-US" dirty="0"/>
              <a:t> Elevated the model by integrating a </a:t>
            </a:r>
            <a:r>
              <a:rPr lang="en-US" b="1" dirty="0"/>
              <a:t>CNN feature extractor</a:t>
            </a:r>
            <a:r>
              <a:rPr lang="en-US" dirty="0"/>
              <a:t>, forming a </a:t>
            </a:r>
            <a:r>
              <a:rPr lang="en-US" b="1" dirty="0"/>
              <a:t>hybrid CNN–PCA–SVM</a:t>
            </a:r>
            <a:r>
              <a:rPr lang="en-US" dirty="0"/>
              <a:t> architecture that reached </a:t>
            </a:r>
            <a:r>
              <a:rPr lang="en-US" b="1" dirty="0"/>
              <a:t>99.25% accuracy</a:t>
            </a:r>
            <a:r>
              <a:rPr lang="en-US" dirty="0"/>
              <a:t>.</a:t>
            </a:r>
            <a:br>
              <a:rPr lang="en-US" dirty="0"/>
            </a:br>
            <a:br>
              <a:rPr lang="en-US" dirty="0"/>
            </a:br>
            <a:endParaRPr lang="en-US" dirty="0"/>
          </a:p>
          <a:p>
            <a:r>
              <a:rPr lang="en-US" b="1" dirty="0"/>
              <a:t>Key Learning:</a:t>
            </a:r>
          </a:p>
          <a:p>
            <a:br>
              <a:rPr lang="en-US" b="1" dirty="0"/>
            </a:br>
            <a:r>
              <a:rPr lang="en-US" dirty="0"/>
              <a:t>The project clearly demonstrates that </a:t>
            </a:r>
            <a:r>
              <a:rPr lang="en-US" b="1" dirty="0"/>
              <a:t>the quality of extracted features dictates the ceiling of a model’s performance</a:t>
            </a:r>
            <a:r>
              <a:rPr lang="en-US" dirty="0"/>
              <a:t>.</a:t>
            </a:r>
            <a:br>
              <a:rPr lang="en-US" dirty="0"/>
            </a:br>
            <a:r>
              <a:rPr lang="en-US" dirty="0"/>
              <a:t>By enriching the input space with deep CNN-derived representations, we unlocked the full potential of the SVM classifier — achieving state-of-the-art accuracy through the synergy of </a:t>
            </a:r>
            <a:r>
              <a:rPr lang="en-US" b="1" dirty="0"/>
              <a:t>deep learning and classical ML</a:t>
            </a:r>
            <a:r>
              <a:rPr lang="en-US" dirty="0"/>
              <a:t>.</a:t>
            </a:r>
            <a:endParaRPr sz="1100" dirty="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4"/>
          <p:cNvSpPr txBox="1">
            <a:spLocks noGrp="1"/>
          </p:cNvSpPr>
          <p:nvPr>
            <p:ph type="title"/>
          </p:nvPr>
        </p:nvSpPr>
        <p:spPr>
          <a:xfrm>
            <a:off x="457200" y="116981"/>
            <a:ext cx="8229600" cy="1143000"/>
          </a:xfrm>
          <a:prstGeom prst="rect">
            <a:avLst/>
          </a:prstGeom>
          <a:noFill/>
          <a:ln>
            <a:noFill/>
          </a:ln>
        </p:spPr>
        <p:txBody>
          <a:bodyPr spcFirstLastPara="1" wrap="square" lIns="91425" tIns="45700" rIns="91425" bIns="45700" anchor="ctr" anchorCtr="0">
            <a:normAutofit fontScale="90000"/>
          </a:bodyPr>
          <a:lstStyle/>
          <a:p>
            <a:pPr>
              <a:buSzPct val="111000"/>
            </a:pPr>
            <a:r>
              <a:rPr lang="en-US" dirty="0"/>
              <a:t>      </a:t>
            </a:r>
            <a:br>
              <a:rPr lang="en-US" dirty="0"/>
            </a:br>
            <a:r>
              <a:rPr lang="en-US" dirty="0"/>
              <a:t>    </a:t>
            </a:r>
            <a:r>
              <a:rPr lang="en-IN" dirty="0"/>
              <a:t>References</a:t>
            </a:r>
            <a:br>
              <a:rPr lang="en-IN" b="1" dirty="0"/>
            </a:br>
            <a:endParaRPr dirty="0">
              <a:latin typeface="Times New Roman"/>
              <a:ea typeface="Times New Roman"/>
              <a:cs typeface="Times New Roman"/>
              <a:sym typeface="Times New Roman"/>
            </a:endParaRPr>
          </a:p>
        </p:txBody>
      </p:sp>
      <p:pic>
        <p:nvPicPr>
          <p:cNvPr id="191" name="Google Shape;191;p24"/>
          <p:cNvPicPr preferRelativeResize="0"/>
          <p:nvPr/>
        </p:nvPicPr>
        <p:blipFill rotWithShape="1">
          <a:blip r:embed="rId3">
            <a:alphaModFix/>
          </a:blip>
          <a:srcRect/>
          <a:stretch/>
        </p:blipFill>
        <p:spPr>
          <a:xfrm>
            <a:off x="228600" y="553353"/>
            <a:ext cx="2237740" cy="755015"/>
          </a:xfrm>
          <a:prstGeom prst="rect">
            <a:avLst/>
          </a:prstGeom>
          <a:noFill/>
          <a:ln>
            <a:noFill/>
          </a:ln>
        </p:spPr>
      </p:pic>
      <p:sp>
        <p:nvSpPr>
          <p:cNvPr id="192" name="Google Shape;192;p24"/>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16</a:t>
            </a:fld>
            <a:endParaRPr/>
          </a:p>
        </p:txBody>
      </p:sp>
      <p:sp>
        <p:nvSpPr>
          <p:cNvPr id="193" name="Google Shape;193;p24"/>
          <p:cNvSpPr txBox="1"/>
          <p:nvPr/>
        </p:nvSpPr>
        <p:spPr>
          <a:xfrm>
            <a:off x="825150" y="1725600"/>
            <a:ext cx="7493700" cy="4905928"/>
          </a:xfrm>
          <a:prstGeom prst="rect">
            <a:avLst/>
          </a:prstGeom>
          <a:noFill/>
          <a:ln>
            <a:noFill/>
          </a:ln>
        </p:spPr>
        <p:txBody>
          <a:bodyPr spcFirstLastPara="1" wrap="square" lIns="91425" tIns="91425" rIns="91425" bIns="91425" anchor="t" anchorCtr="0">
            <a:spAutoFit/>
          </a:bodyPr>
          <a:lstStyle/>
          <a:p>
            <a:pPr marL="342900" indent="-342900" fontAlgn="base">
              <a:buFont typeface="+mj-lt"/>
              <a:buAutoNum type="arabicPeriod"/>
            </a:pPr>
            <a:r>
              <a:rPr lang="en-IN" dirty="0"/>
              <a:t>C. Cortes and V. </a:t>
            </a:r>
            <a:r>
              <a:rPr lang="en-IN" dirty="0" err="1"/>
              <a:t>Vapnik</a:t>
            </a:r>
            <a:r>
              <a:rPr lang="en-IN" dirty="0"/>
              <a:t>, “Support-vector networks,” in </a:t>
            </a:r>
            <a:r>
              <a:rPr lang="en-IN" i="1" dirty="0"/>
              <a:t>Machine learning</a:t>
            </a:r>
            <a:r>
              <a:rPr lang="en-IN" dirty="0"/>
              <a:t>, vol. 20, no. 3, pp. 273–297, 1995.</a:t>
            </a:r>
          </a:p>
          <a:p>
            <a:pPr marL="342900" indent="-342900" fontAlgn="base">
              <a:buFont typeface="+mj-lt"/>
              <a:buAutoNum type="arabicPeriod"/>
            </a:pPr>
            <a:endParaRPr lang="en-IN" dirty="0"/>
          </a:p>
          <a:p>
            <a:pPr marL="342900" indent="-342900" fontAlgn="base">
              <a:buFont typeface="+mj-lt"/>
              <a:buAutoNum type="arabicPeriod"/>
            </a:pPr>
            <a:r>
              <a:rPr lang="en-IN" dirty="0"/>
              <a:t>L. Deng, “The MNIST database of handwritten digit images for machine learning research [best of the web],” in </a:t>
            </a:r>
            <a:r>
              <a:rPr lang="en-IN" i="1" dirty="0"/>
              <a:t>IEEE Signal Processing Magazine</a:t>
            </a:r>
            <a:r>
              <a:rPr lang="en-IN" dirty="0"/>
              <a:t>, vol. 29, no. 6, pp. 141–142, 2022.</a:t>
            </a:r>
          </a:p>
          <a:p>
            <a:pPr marL="342900" indent="-342900" fontAlgn="base">
              <a:buFont typeface="+mj-lt"/>
              <a:buAutoNum type="arabicPeriod"/>
            </a:pPr>
            <a:endParaRPr lang="en-IN" dirty="0"/>
          </a:p>
          <a:p>
            <a:pPr marL="342900" indent="-342900" fontAlgn="base">
              <a:buFont typeface="+mj-lt"/>
              <a:buAutoNum type="arabicPeriod"/>
            </a:pPr>
            <a:r>
              <a:rPr lang="en-IN" dirty="0"/>
              <a:t>M. Raheem and N. F. </a:t>
            </a:r>
            <a:r>
              <a:rPr lang="en-IN" dirty="0" err="1"/>
              <a:t>Abubacker</a:t>
            </a:r>
            <a:r>
              <a:rPr lang="en-IN" dirty="0"/>
              <a:t>, “HANDWRITTEN DIGIT RECOGNITION USING MACHINE LEARNING,” in </a:t>
            </a:r>
            <a:r>
              <a:rPr lang="en-IN" i="1" dirty="0"/>
              <a:t>Journal of Theoretical and Applied Information Technology</a:t>
            </a:r>
            <a:r>
              <a:rPr lang="en-IN" dirty="0"/>
              <a:t>, vol. 102, no. 5, pp. 2172-2180, Mar. 2024.</a:t>
            </a:r>
          </a:p>
          <a:p>
            <a:pPr marL="342900" indent="-342900" fontAlgn="base">
              <a:buFont typeface="+mj-lt"/>
              <a:buAutoNum type="arabicPeriod"/>
            </a:pPr>
            <a:endParaRPr lang="en-IN" dirty="0"/>
          </a:p>
          <a:p>
            <a:pPr marL="342900" indent="-342900" fontAlgn="base">
              <a:buFont typeface="+mj-lt"/>
              <a:buAutoNum type="arabicPeriod"/>
            </a:pPr>
            <a:r>
              <a:rPr lang="en-IN" dirty="0"/>
              <a:t>Y. </a:t>
            </a:r>
            <a:r>
              <a:rPr lang="en-IN" dirty="0" err="1"/>
              <a:t>Berrich</a:t>
            </a:r>
            <a:r>
              <a:rPr lang="en-IN" dirty="0"/>
              <a:t> and Z. </a:t>
            </a:r>
            <a:r>
              <a:rPr lang="en-IN" dirty="0" err="1"/>
              <a:t>Guennoun</a:t>
            </a:r>
            <a:r>
              <a:rPr lang="en-IN" dirty="0"/>
              <a:t>, “Handwritten Digit Recognition System based on CNN and SVM,” in </a:t>
            </a:r>
            <a:r>
              <a:rPr lang="en-IN" i="1" dirty="0"/>
              <a:t>Signal &amp; Image Processing : An International Journal</a:t>
            </a:r>
            <a:r>
              <a:rPr lang="en-IN" dirty="0"/>
              <a:t>, vol. 13, no. 6, Dec. 2022.</a:t>
            </a:r>
          </a:p>
          <a:p>
            <a:pPr marL="342900" indent="-342900" fontAlgn="base">
              <a:buFont typeface="+mj-lt"/>
              <a:buAutoNum type="arabicPeriod"/>
            </a:pPr>
            <a:endParaRPr lang="en-IN" dirty="0"/>
          </a:p>
          <a:p>
            <a:pPr marL="342900" indent="-342900" fontAlgn="base">
              <a:buFont typeface="+mj-lt"/>
              <a:buAutoNum type="arabicPeriod"/>
            </a:pPr>
            <a:r>
              <a:rPr lang="en-IN" dirty="0"/>
              <a:t>R. Tang, X. Liu, and T. Hu, “An Improved Handwritten Recognition Method Using CNN-SVM Based on Successive Over-Relaxation Iteration,” in Proc. 6th International Conference on Data-driven Optimization and Machine Learning, 2024.</a:t>
            </a:r>
          </a:p>
          <a:p>
            <a:pPr marL="0" lvl="0" indent="0" algn="l" rtl="0">
              <a:lnSpc>
                <a:spcPct val="115000"/>
              </a:lnSpc>
              <a:spcBef>
                <a:spcPts val="1200"/>
              </a:spcBef>
              <a:spcAft>
                <a:spcPts val="0"/>
              </a:spcAft>
              <a:buClr>
                <a:schemeClr val="dk1"/>
              </a:buClr>
              <a:buSzPts val="1100"/>
              <a:buFont typeface="Arial"/>
              <a:buNone/>
            </a:pPr>
            <a:endParaRPr sz="1200" dirty="0">
              <a:solidFill>
                <a:schemeClr val="dk1"/>
              </a:solidFill>
            </a:endParaRPr>
          </a:p>
          <a:p>
            <a:pPr marL="0" lvl="0" indent="0" algn="l" rtl="0">
              <a:spcBef>
                <a:spcPts val="1200"/>
              </a:spcBef>
              <a:spcAft>
                <a:spcPts val="0"/>
              </a:spcAft>
              <a:buNone/>
            </a:pPr>
            <a:endParaRPr sz="1200" dirty="0">
              <a:solidFill>
                <a:schemeClr val="dk1"/>
              </a:solidFill>
            </a:endParaRPr>
          </a:p>
          <a:p>
            <a:pPr marL="0" lvl="0" indent="0" algn="l" rtl="0">
              <a:spcBef>
                <a:spcPts val="0"/>
              </a:spcBef>
              <a:spcAft>
                <a:spcPts val="0"/>
              </a:spcAft>
              <a:buNone/>
            </a:pPr>
            <a:endParaRPr sz="1200" dirty="0">
              <a:solidFill>
                <a:schemeClr val="dk1"/>
              </a:solidFill>
            </a:endParaRPr>
          </a:p>
          <a:p>
            <a:pPr marL="0" lvl="0" indent="0" algn="l" rtl="0">
              <a:spcBef>
                <a:spcPts val="0"/>
              </a:spcBef>
              <a:spcAft>
                <a:spcPts val="0"/>
              </a:spcAft>
              <a:buNone/>
            </a:pPr>
            <a:endParaRPr sz="1100" dirty="0">
              <a:solidFill>
                <a:schemeClr val="dk1"/>
              </a:solidFil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233</TotalTime>
  <Words>1749</Words>
  <Application>Microsoft Office PowerPoint</Application>
  <PresentationFormat>On-screen Show (4:3)</PresentationFormat>
  <Paragraphs>212</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Calibri</vt:lpstr>
      <vt:lpstr>Arial</vt:lpstr>
      <vt:lpstr>Times New Roman</vt:lpstr>
      <vt:lpstr>Office Theme</vt:lpstr>
      <vt:lpstr>  Handwritten Digit Recognition with SVM and Image Preprocessing Techniques   </vt:lpstr>
      <vt:lpstr>                     Problem Overview </vt:lpstr>
      <vt:lpstr>                        System Architecture / Workflow </vt:lpstr>
      <vt:lpstr>                        System Architecture / Workflow </vt:lpstr>
      <vt:lpstr>                        System Architecture / Workflow </vt:lpstr>
      <vt:lpstr>                        System Architecture / Workflow </vt:lpstr>
      <vt:lpstr>                       Algorithm / Model Summary</vt:lpstr>
      <vt:lpstr>                     Implementation Highlights</vt:lpstr>
      <vt:lpstr>           Demonstration</vt:lpstr>
      <vt:lpstr>       Comparative Analysis</vt:lpstr>
      <vt:lpstr>               Result Interpretation</vt:lpstr>
      <vt:lpstr>               Result Interpretation</vt:lpstr>
      <vt:lpstr>               Result Interpretation</vt:lpstr>
      <vt:lpstr>           Future Enhancement</vt:lpstr>
      <vt:lpstr>Conclusion</vt:lpstr>
      <vt:lpstr>           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Divyansh Aggarwal</dc:creator>
  <cp:lastModifiedBy>Divyansh Aggarwal</cp:lastModifiedBy>
  <cp:revision>5</cp:revision>
  <dcterms:modified xsi:type="dcterms:W3CDTF">2025-10-27T19:10:14Z</dcterms:modified>
</cp:coreProperties>
</file>